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whole deck up front: this is a demo-complete LangGraph clinical workflow, not a production system. Every downstream design decision serves passing the capstone rubric with a stack that also happens to look clinical. Say clearly at the start that nothing in the deck changes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deck. The six circles are the actual capstone requirements — parallel agents, RAG, tool use, human-in-the-loop, a fallback path, and a UI — and every one of them is genuinely exercised, even with MOCK_LLM=true and no keys configured. That's the whole design philosophy: prove the box, not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row left to right: the 'why' followed immediately by the reality check. The pattern to hammer on every row: nothing here is deceptive, but almost every choice trades completeness for demo-day reliability — zero keys, zero external dependencies required to prove the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chain left to right. Call out three things explicitly: (1) urgent_safety fires for critical cases before labs even run, so it can't see lab flags yet — that's a known gap covered later; (2) the fan-out is the real latency design, three branches join at synthesize; (3) the human checkpoint is a genuine LangGraph interrupt/resume, not a fake modal. Follow-up chat is intentionally off-graph — it just reads the saved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is deliberate, not accidental — but it has a sharp edge. Approve and Edit only need the stored draft, so they still work even if the checkpointer died. Reject needs to re-run the graph, so it needs the live MemorySaver cursor. If that process restarted, Reject is stuck. That asymmetry is worth calling out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UI looks fully observable — there's a panel, it updates, run counts increment. Underneath, the only real signal is 'a run happened.' Nothing about how long any single agent took, how many tool calls fired, or whether anything retried is actually captured. This is the concrete example to point to when you get to the P1 gap about wiring EventBus/OpenTelemetry.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recommendation row is the one worth pausing on — it's the row highlighted in red. Even in full live mode with a real key, recommendations never touch the LLM; they come out of a fixed if-table plus an openFDA lookup. That's a reasonable demo shortcut, but it's exactly the kind of thing a reviewer will ask about, so it's better to surface it than have it discovered.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the severity-ranked gap list from the implementation-review canvas — three slides follow, one per tier, in the order you'd actually work through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reason the demo banner has to stay up. Each one is a specific, named defect in the shipped code — not a generic 'add security later' — so they're straightforward to turn into tickets.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tier is what separates a demo from a pilot. Nothing here is exotic engineering — it's the standard checklist between a hackathon build and something a real clinical team could poke at — but the urgency-ordering gap is worth flagging on its own: safety currently runs blind to lab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Lowest urgency of the three tiers — fine to defer past the first real pilot, but cheap to fix opportunistically since none of them require an architecture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honest framing: this is a genuinely complete demo of the required capabilities, and a genuinely incomplete clinical product. Both things are true at once, and that's the message to leave the room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did what, at a glance, before the detailed ownership breakdown. Eight people split cleanly across five capability areas — the sections that follow map directly onto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as a timeline, not a hierarchy: phase 0 laid the contracts everyone else built against, phases 1–2 ran largely in parallel across five people, phase 3 was the two-person generation slice, and phases 4–6 — the hardest integration work — came back to the same two people who owned the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carried the highest-risk parts of the system: the real graph state machine and the HITL loop that gates every result. Everything the other six contributors built plugs into this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retrieval owners, two extraction owners — split so the corpus/embedding work and the patient/medical structured-data work never collided. Radhakrishna and Vinayak's split (demographics vs. clinical fields) is also what keeps PatientData from leaking medical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three grounded inputs feed both people — patient data, medical data, retrieved evidence — but the outputs stay cleanly separated: Sneha's narrative summary versus Lakshmi's cited, conservatively-worded recommendations. That separation is what keeps the recommendation output traceable back to a citation.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stages, eight owners, one gate: nothing reaches the clinician-facing output without passing through the HITL checkpoint that Turjoy and Adarsh built. This is the slide that ties the whole team section back to the architecture review — same graph, now labeled by who built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142"/>
        </a:solidFill>
      </p:bgPr>
    </p:bg>
    <p:spTree>
      <p:nvGrpSpPr>
        <p:cNvPr id="1" name=""/>
        <p:cNvGrpSpPr/>
        <p:nvPr/>
      </p:nvGrpSpPr>
      <p:grpSpPr>
        <a:xfrm>
          <a:off x="0" y="0"/>
          <a:ext cx="0" cy="0"/>
          <a:chOff x="0" y="0"/>
          <a:chExt cx="0" cy="0"/>
        </a:xfrm>
      </p:grpSpPr>
      <p:sp>
        <p:nvSpPr>
          <p:cNvPr id="2" name="Text 0"/>
          <p:cNvSpPr/>
          <p:nvPr/>
        </p:nvSpPr>
        <p:spPr>
          <a:xfrm>
            <a:off x="731520" y="1965960"/>
            <a:ext cx="10698480" cy="1737360"/>
          </a:xfrm>
          <a:prstGeom prst="rect">
            <a:avLst/>
          </a:prstGeom>
          <a:noFill/>
          <a:ln/>
        </p:spPr>
        <p:txBody>
          <a:bodyPr wrap="square" rtlCol="0" anchor="ctr"/>
          <a:lstStyle/>
          <a:p>
            <a:pPr algn="l" indent="0" marL="0">
              <a:lnSpc>
                <a:spcPts val="4600"/>
              </a:lnSpc>
              <a:buNone/>
            </a:pPr>
            <a:r>
              <a:rPr lang="en-US" sz="4000" b="1" dirty="0">
                <a:solidFill>
                  <a:srgbClr val="FFFFFF"/>
                </a:solidFill>
                <a:latin typeface="Cambria" pitchFamily="34" charset="0"/>
                <a:ea typeface="Cambria" pitchFamily="34" charset="-122"/>
                <a:cs typeface="Cambria" pitchFamily="34" charset="-120"/>
              </a:rPr>
              <a:t>Clinical Report</a:t>
            </a:r>
            <a:endParaRPr lang="en-US" sz="4000" dirty="0"/>
          </a:p>
          <a:p>
            <a:pPr algn="l" indent="0" marL="0">
              <a:lnSpc>
                <a:spcPts val="4600"/>
              </a:lnSpc>
              <a:buNone/>
            </a:pPr>
            <a:r>
              <a:rPr lang="en-US" sz="4000" b="1" dirty="0">
                <a:solidFill>
                  <a:srgbClr val="FFFFFF"/>
                </a:solidFill>
                <a:latin typeface="Cambria" pitchFamily="34" charset="0"/>
                <a:ea typeface="Cambria" pitchFamily="34" charset="-122"/>
                <a:cs typeface="Cambria" pitchFamily="34" charset="-120"/>
              </a:rPr>
              <a:t>Summarization Assistant</a:t>
            </a:r>
            <a:endParaRPr lang="en-US" sz="4000" dirty="0"/>
          </a:p>
        </p:txBody>
      </p:sp>
      <p:sp>
        <p:nvSpPr>
          <p:cNvPr id="3" name="Text 1"/>
          <p:cNvSpPr/>
          <p:nvPr/>
        </p:nvSpPr>
        <p:spPr>
          <a:xfrm>
            <a:off x="777240" y="3703320"/>
            <a:ext cx="10698480" cy="457200"/>
          </a:xfrm>
          <a:prstGeom prst="rect">
            <a:avLst/>
          </a:prstGeom>
          <a:noFill/>
          <a:ln/>
        </p:spPr>
        <p:txBody>
          <a:bodyPr wrap="square" rtlCol="0" anchor="ctr"/>
          <a:lstStyle/>
          <a:p>
            <a:pPr algn="l" indent="0" marL="0">
              <a:buNone/>
            </a:pPr>
            <a:r>
              <a:rPr lang="en-US" sz="1900" i="1" dirty="0">
                <a:solidFill>
                  <a:srgbClr val="6FD8C7"/>
                </a:solidFill>
                <a:latin typeface="Calibri" pitchFamily="34" charset="0"/>
                <a:ea typeface="Calibri" pitchFamily="34" charset="-122"/>
                <a:cs typeface="Calibri" pitchFamily="34" charset="-120"/>
              </a:rPr>
              <a:t>LangGraph Capstone  —  Implementation Architecture Review</a:t>
            </a:r>
            <a:endParaRPr lang="en-US" sz="1900" dirty="0"/>
          </a:p>
        </p:txBody>
      </p:sp>
      <p:sp>
        <p:nvSpPr>
          <p:cNvPr id="4" name="Shape 2"/>
          <p:cNvSpPr/>
          <p:nvPr/>
        </p:nvSpPr>
        <p:spPr>
          <a:xfrm>
            <a:off x="777240" y="3566160"/>
            <a:ext cx="2377440" cy="32004"/>
          </a:xfrm>
          <a:prstGeom prst="rect">
            <a:avLst/>
          </a:prstGeom>
          <a:solidFill>
            <a:srgbClr val="02C39A"/>
          </a:solidFill>
          <a:ln/>
        </p:spPr>
      </p:sp>
      <p:sp>
        <p:nvSpPr>
          <p:cNvPr id="5" name="Text 3"/>
          <p:cNvSpPr/>
          <p:nvPr/>
        </p:nvSpPr>
        <p:spPr>
          <a:xfrm>
            <a:off x="777240" y="5989320"/>
            <a:ext cx="10607040" cy="365760"/>
          </a:xfrm>
          <a:prstGeom prst="rect">
            <a:avLst/>
          </a:prstGeom>
          <a:noFill/>
          <a:ln/>
        </p:spPr>
        <p:txBody>
          <a:bodyPr wrap="square" rtlCol="0" anchor="ctr"/>
          <a:lstStyle/>
          <a:p>
            <a:pPr algn="l" indent="0" marL="0">
              <a:buNone/>
            </a:pPr>
            <a:r>
              <a:rPr lang="en-US" sz="1250" dirty="0">
                <a:solidFill>
                  <a:srgbClr val="9FB4BE"/>
                </a:solidFill>
                <a:latin typeface="Calibri" pitchFamily="34" charset="0"/>
                <a:ea typeface="Calibri" pitchFamily="34" charset="-122"/>
                <a:cs typeface="Calibri" pitchFamily="34" charset="-120"/>
              </a:rPr>
              <a:t>Demo-complete system   •   Mock LLM by default   •   Not for clinical use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algn="l" indent="0" marL="0">
              <a:buNone/>
            </a:pPr>
            <a:r>
              <a:rPr lang="en-US" sz="2800" b="1" dirty="0">
                <a:solidFill>
                  <a:srgbClr val="0B3142"/>
                </a:solidFill>
                <a:latin typeface="Cambria" pitchFamily="34" charset="0"/>
                <a:ea typeface="Cambria" pitchFamily="34" charset="-122"/>
                <a:cs typeface="Cambria" pitchFamily="34" charset="-120"/>
              </a:rPr>
              <a:t>Built to check every capstone box</a:t>
            </a:r>
            <a:endParaRPr lang="en-US" sz="2800" dirty="0"/>
          </a:p>
        </p:txBody>
      </p:sp>
      <p:sp>
        <p:nvSpPr>
          <p:cNvPr id="3" name="Text 1"/>
          <p:cNvSpPr/>
          <p:nvPr/>
        </p:nvSpPr>
        <p:spPr>
          <a:xfrm>
            <a:off x="548640" y="932688"/>
            <a:ext cx="11091672" cy="365760"/>
          </a:xfrm>
          <a:prstGeom prst="rect">
            <a:avLst/>
          </a:prstGeom>
          <a:noFill/>
          <a:ln/>
        </p:spPr>
        <p:txBody>
          <a:bodyPr wrap="square" rtlCol="0" anchor="ctr"/>
          <a:lstStyle/>
          <a:p>
            <a:pPr algn="l" indent="0" marL="0">
              <a:buNone/>
            </a:pPr>
            <a:r>
              <a:rPr lang="en-US" sz="1300" i="1" dirty="0">
                <a:solidFill>
                  <a:srgbClr val="5B6B76"/>
                </a:solidFill>
                <a:latin typeface="Calibri" pitchFamily="34" charset="0"/>
                <a:ea typeface="Calibri" pitchFamily="34" charset="-122"/>
                <a:cs typeface="Calibri" pitchFamily="34" charset="-120"/>
              </a:rPr>
              <a:t>A mock run still exercises all six required capabilities — with zero API keys.</a:t>
            </a:r>
            <a:endParaRPr lang="en-US" sz="1300" dirty="0"/>
          </a:p>
        </p:txBody>
      </p:sp>
      <p:sp>
        <p:nvSpPr>
          <p:cNvPr id="4" name="Shape 2"/>
          <p:cNvSpPr/>
          <p:nvPr/>
        </p:nvSpPr>
        <p:spPr>
          <a:xfrm>
            <a:off x="2461108" y="1691640"/>
            <a:ext cx="868680" cy="868680"/>
          </a:xfrm>
          <a:prstGeom prst="ellipse">
            <a:avLst/>
          </a:prstGeom>
          <a:solidFill>
            <a:srgbClr val="028090"/>
          </a:solidFill>
          <a:ln/>
        </p:spPr>
      </p:sp>
      <p:sp>
        <p:nvSpPr>
          <p:cNvPr id="5" name="Text 3"/>
          <p:cNvSpPr/>
          <p:nvPr/>
        </p:nvSpPr>
        <p:spPr>
          <a:xfrm>
            <a:off x="2461108" y="1691640"/>
            <a:ext cx="868680" cy="8686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a:t>
            </a:r>
            <a:endParaRPr lang="en-US" sz="1300" dirty="0"/>
          </a:p>
        </p:txBody>
      </p:sp>
      <p:sp>
        <p:nvSpPr>
          <p:cNvPr id="6" name="Text 4"/>
          <p:cNvSpPr/>
          <p:nvPr/>
        </p:nvSpPr>
        <p:spPr>
          <a:xfrm>
            <a:off x="2232508" y="2633472"/>
            <a:ext cx="1325880" cy="457200"/>
          </a:xfrm>
          <a:prstGeom prst="rect">
            <a:avLst/>
          </a:prstGeom>
          <a:noFill/>
          <a:ln/>
        </p:spPr>
        <p:txBody>
          <a:bodyPr wrap="square" rtlCol="0" anchor="ctr"/>
          <a:lstStyle/>
          <a:p>
            <a:pPr algn="ctr" indent="0" marL="0">
              <a:buNone/>
            </a:pPr>
            <a:r>
              <a:rPr lang="en-US" sz="1050" b="1" dirty="0">
                <a:solidFill>
                  <a:srgbClr val="0B3142"/>
                </a:solidFill>
                <a:latin typeface="Calibri" pitchFamily="34" charset="0"/>
                <a:ea typeface="Calibri" pitchFamily="34" charset="-122"/>
                <a:cs typeface="Calibri" pitchFamily="34" charset="-120"/>
              </a:rPr>
              <a:t>Parallel</a:t>
            </a:r>
            <a:endParaRPr lang="en-US" sz="1050" dirty="0"/>
          </a:p>
          <a:p>
            <a:pPr algn="ctr" indent="0" marL="0">
              <a:buNone/>
            </a:pPr>
            <a:r>
              <a:rPr lang="en-US" sz="1050" b="1" dirty="0">
                <a:solidFill>
                  <a:srgbClr val="0B3142"/>
                </a:solidFill>
                <a:latin typeface="Calibri" pitchFamily="34" charset="0"/>
                <a:ea typeface="Calibri" pitchFamily="34" charset="-122"/>
                <a:cs typeface="Calibri" pitchFamily="34" charset="-120"/>
              </a:rPr>
              <a:t>Agents</a:t>
            </a:r>
            <a:endParaRPr lang="en-US" sz="1050" dirty="0"/>
          </a:p>
        </p:txBody>
      </p:sp>
      <p:sp>
        <p:nvSpPr>
          <p:cNvPr id="7" name="Shape 5"/>
          <p:cNvSpPr/>
          <p:nvPr/>
        </p:nvSpPr>
        <p:spPr>
          <a:xfrm>
            <a:off x="3741268" y="1691640"/>
            <a:ext cx="868680" cy="868680"/>
          </a:xfrm>
          <a:prstGeom prst="ellipse">
            <a:avLst/>
          </a:prstGeom>
          <a:solidFill>
            <a:srgbClr val="0B3142"/>
          </a:solidFill>
          <a:ln/>
        </p:spPr>
      </p:sp>
      <p:sp>
        <p:nvSpPr>
          <p:cNvPr id="8" name="Text 6"/>
          <p:cNvSpPr/>
          <p:nvPr/>
        </p:nvSpPr>
        <p:spPr>
          <a:xfrm>
            <a:off x="3741268" y="1691640"/>
            <a:ext cx="868680" cy="8686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RAG</a:t>
            </a:r>
            <a:endParaRPr lang="en-US" sz="1300" dirty="0"/>
          </a:p>
        </p:txBody>
      </p:sp>
      <p:sp>
        <p:nvSpPr>
          <p:cNvPr id="9" name="Text 7"/>
          <p:cNvSpPr/>
          <p:nvPr/>
        </p:nvSpPr>
        <p:spPr>
          <a:xfrm>
            <a:off x="3512668" y="2633472"/>
            <a:ext cx="1325880" cy="457200"/>
          </a:xfrm>
          <a:prstGeom prst="rect">
            <a:avLst/>
          </a:prstGeom>
          <a:noFill/>
          <a:ln/>
        </p:spPr>
        <p:txBody>
          <a:bodyPr wrap="square" rtlCol="0" anchor="ctr"/>
          <a:lstStyle/>
          <a:p>
            <a:pPr algn="ctr" indent="0" marL="0">
              <a:buNone/>
            </a:pPr>
            <a:r>
              <a:rPr lang="en-US" sz="1050" b="1" dirty="0">
                <a:solidFill>
                  <a:srgbClr val="0B3142"/>
                </a:solidFill>
                <a:latin typeface="Calibri" pitchFamily="34" charset="0"/>
                <a:ea typeface="Calibri" pitchFamily="34" charset="-122"/>
                <a:cs typeface="Calibri" pitchFamily="34" charset="-120"/>
              </a:rPr>
              <a:t>RAG</a:t>
            </a:r>
            <a:endParaRPr lang="en-US" sz="1050" dirty="0"/>
          </a:p>
        </p:txBody>
      </p:sp>
      <p:sp>
        <p:nvSpPr>
          <p:cNvPr id="10" name="Shape 8"/>
          <p:cNvSpPr/>
          <p:nvPr/>
        </p:nvSpPr>
        <p:spPr>
          <a:xfrm>
            <a:off x="5021428" y="1691640"/>
            <a:ext cx="868680" cy="868680"/>
          </a:xfrm>
          <a:prstGeom prst="ellipse">
            <a:avLst/>
          </a:prstGeom>
          <a:solidFill>
            <a:srgbClr val="028090"/>
          </a:solidFill>
          <a:ln/>
        </p:spPr>
      </p:sp>
      <p:sp>
        <p:nvSpPr>
          <p:cNvPr id="11" name="Text 9"/>
          <p:cNvSpPr/>
          <p:nvPr/>
        </p:nvSpPr>
        <p:spPr>
          <a:xfrm>
            <a:off x="5021428" y="1691640"/>
            <a:ext cx="868680" cy="8686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TL</a:t>
            </a:r>
            <a:endParaRPr lang="en-US" sz="1300" dirty="0"/>
          </a:p>
        </p:txBody>
      </p:sp>
      <p:sp>
        <p:nvSpPr>
          <p:cNvPr id="12" name="Text 10"/>
          <p:cNvSpPr/>
          <p:nvPr/>
        </p:nvSpPr>
        <p:spPr>
          <a:xfrm>
            <a:off x="4792828" y="2633472"/>
            <a:ext cx="1325880" cy="457200"/>
          </a:xfrm>
          <a:prstGeom prst="rect">
            <a:avLst/>
          </a:prstGeom>
          <a:noFill/>
          <a:ln/>
        </p:spPr>
        <p:txBody>
          <a:bodyPr wrap="square" rtlCol="0" anchor="ctr"/>
          <a:lstStyle/>
          <a:p>
            <a:pPr algn="ctr" indent="0" marL="0">
              <a:buNone/>
            </a:pPr>
            <a:r>
              <a:rPr lang="en-US" sz="1050" b="1" dirty="0">
                <a:solidFill>
                  <a:srgbClr val="0B3142"/>
                </a:solidFill>
                <a:latin typeface="Calibri" pitchFamily="34" charset="0"/>
                <a:ea typeface="Calibri" pitchFamily="34" charset="-122"/>
                <a:cs typeface="Calibri" pitchFamily="34" charset="-120"/>
              </a:rPr>
              <a:t>Tools</a:t>
            </a:r>
            <a:endParaRPr lang="en-US" sz="1050" dirty="0"/>
          </a:p>
        </p:txBody>
      </p:sp>
      <p:sp>
        <p:nvSpPr>
          <p:cNvPr id="13" name="Shape 11"/>
          <p:cNvSpPr/>
          <p:nvPr/>
        </p:nvSpPr>
        <p:spPr>
          <a:xfrm>
            <a:off x="6301588" y="1691640"/>
            <a:ext cx="868680" cy="868680"/>
          </a:xfrm>
          <a:prstGeom prst="ellipse">
            <a:avLst/>
          </a:prstGeom>
          <a:solidFill>
            <a:srgbClr val="0B3142"/>
          </a:solidFill>
          <a:ln/>
        </p:spPr>
      </p:sp>
      <p:sp>
        <p:nvSpPr>
          <p:cNvPr id="14" name="Text 12"/>
          <p:cNvSpPr/>
          <p:nvPr/>
        </p:nvSpPr>
        <p:spPr>
          <a:xfrm>
            <a:off x="6301588" y="1691640"/>
            <a:ext cx="868680" cy="8686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HL</a:t>
            </a:r>
            <a:endParaRPr lang="en-US" sz="1300" dirty="0"/>
          </a:p>
        </p:txBody>
      </p:sp>
      <p:sp>
        <p:nvSpPr>
          <p:cNvPr id="15" name="Text 13"/>
          <p:cNvSpPr/>
          <p:nvPr/>
        </p:nvSpPr>
        <p:spPr>
          <a:xfrm>
            <a:off x="6072988" y="2633472"/>
            <a:ext cx="1325880" cy="457200"/>
          </a:xfrm>
          <a:prstGeom prst="rect">
            <a:avLst/>
          </a:prstGeom>
          <a:noFill/>
          <a:ln/>
        </p:spPr>
        <p:txBody>
          <a:bodyPr wrap="square" rtlCol="0" anchor="ctr"/>
          <a:lstStyle/>
          <a:p>
            <a:pPr algn="ctr" indent="0" marL="0">
              <a:buNone/>
            </a:pPr>
            <a:r>
              <a:rPr lang="en-US" sz="1050" b="1" dirty="0">
                <a:solidFill>
                  <a:srgbClr val="0B3142"/>
                </a:solidFill>
                <a:latin typeface="Calibri" pitchFamily="34" charset="0"/>
                <a:ea typeface="Calibri" pitchFamily="34" charset="-122"/>
                <a:cs typeface="Calibri" pitchFamily="34" charset="-120"/>
              </a:rPr>
              <a:t>HITL</a:t>
            </a:r>
            <a:endParaRPr lang="en-US" sz="1050" dirty="0"/>
          </a:p>
        </p:txBody>
      </p:sp>
      <p:sp>
        <p:nvSpPr>
          <p:cNvPr id="16" name="Shape 14"/>
          <p:cNvSpPr/>
          <p:nvPr/>
        </p:nvSpPr>
        <p:spPr>
          <a:xfrm>
            <a:off x="7581748" y="1691640"/>
            <a:ext cx="868680" cy="868680"/>
          </a:xfrm>
          <a:prstGeom prst="ellipse">
            <a:avLst/>
          </a:prstGeom>
          <a:solidFill>
            <a:srgbClr val="028090"/>
          </a:solidFill>
          <a:ln/>
        </p:spPr>
      </p:sp>
      <p:sp>
        <p:nvSpPr>
          <p:cNvPr id="17" name="Text 15"/>
          <p:cNvSpPr/>
          <p:nvPr/>
        </p:nvSpPr>
        <p:spPr>
          <a:xfrm>
            <a:off x="7581748" y="1691640"/>
            <a:ext cx="868680" cy="8686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FB</a:t>
            </a:r>
            <a:endParaRPr lang="en-US" sz="1300" dirty="0"/>
          </a:p>
        </p:txBody>
      </p:sp>
      <p:sp>
        <p:nvSpPr>
          <p:cNvPr id="18" name="Text 16"/>
          <p:cNvSpPr/>
          <p:nvPr/>
        </p:nvSpPr>
        <p:spPr>
          <a:xfrm>
            <a:off x="7353148" y="2633472"/>
            <a:ext cx="1325880" cy="457200"/>
          </a:xfrm>
          <a:prstGeom prst="rect">
            <a:avLst/>
          </a:prstGeom>
          <a:noFill/>
          <a:ln/>
        </p:spPr>
        <p:txBody>
          <a:bodyPr wrap="square" rtlCol="0" anchor="ctr"/>
          <a:lstStyle/>
          <a:p>
            <a:pPr algn="ctr" indent="0" marL="0">
              <a:buNone/>
            </a:pPr>
            <a:r>
              <a:rPr lang="en-US" sz="1050" b="1" dirty="0">
                <a:solidFill>
                  <a:srgbClr val="0B3142"/>
                </a:solidFill>
                <a:latin typeface="Calibri" pitchFamily="34" charset="0"/>
                <a:ea typeface="Calibri" pitchFamily="34" charset="-122"/>
                <a:cs typeface="Calibri" pitchFamily="34" charset="-120"/>
              </a:rPr>
              <a:t>Fallback</a:t>
            </a:r>
            <a:endParaRPr lang="en-US" sz="1050" dirty="0"/>
          </a:p>
        </p:txBody>
      </p:sp>
      <p:sp>
        <p:nvSpPr>
          <p:cNvPr id="19" name="Shape 17"/>
          <p:cNvSpPr/>
          <p:nvPr/>
        </p:nvSpPr>
        <p:spPr>
          <a:xfrm>
            <a:off x="8861908" y="1691640"/>
            <a:ext cx="868680" cy="868680"/>
          </a:xfrm>
          <a:prstGeom prst="ellipse">
            <a:avLst/>
          </a:prstGeom>
          <a:solidFill>
            <a:srgbClr val="0B3142"/>
          </a:solidFill>
          <a:ln/>
        </p:spPr>
      </p:sp>
      <p:sp>
        <p:nvSpPr>
          <p:cNvPr id="20" name="Text 18"/>
          <p:cNvSpPr/>
          <p:nvPr/>
        </p:nvSpPr>
        <p:spPr>
          <a:xfrm>
            <a:off x="8861908" y="1691640"/>
            <a:ext cx="868680" cy="8686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UI</a:t>
            </a:r>
            <a:endParaRPr lang="en-US" sz="1300" dirty="0"/>
          </a:p>
        </p:txBody>
      </p:sp>
      <p:sp>
        <p:nvSpPr>
          <p:cNvPr id="21" name="Text 19"/>
          <p:cNvSpPr/>
          <p:nvPr/>
        </p:nvSpPr>
        <p:spPr>
          <a:xfrm>
            <a:off x="8633308" y="2633472"/>
            <a:ext cx="1325880" cy="457200"/>
          </a:xfrm>
          <a:prstGeom prst="rect">
            <a:avLst/>
          </a:prstGeom>
          <a:noFill/>
          <a:ln/>
        </p:spPr>
        <p:txBody>
          <a:bodyPr wrap="square" rtlCol="0" anchor="ctr"/>
          <a:lstStyle/>
          <a:p>
            <a:pPr algn="ctr" indent="0" marL="0">
              <a:buNone/>
            </a:pPr>
            <a:r>
              <a:rPr lang="en-US" sz="1050" b="1" dirty="0">
                <a:solidFill>
                  <a:srgbClr val="0B3142"/>
                </a:solidFill>
                <a:latin typeface="Calibri" pitchFamily="34" charset="0"/>
                <a:ea typeface="Calibri" pitchFamily="34" charset="-122"/>
                <a:cs typeface="Calibri" pitchFamily="34" charset="-120"/>
              </a:rPr>
              <a:t>UI</a:t>
            </a:r>
            <a:endParaRPr lang="en-US" sz="1050" dirty="0"/>
          </a:p>
        </p:txBody>
      </p:sp>
      <p:sp>
        <p:nvSpPr>
          <p:cNvPr id="22" name="Shape 20"/>
          <p:cNvSpPr/>
          <p:nvPr/>
        </p:nvSpPr>
        <p:spPr>
          <a:xfrm>
            <a:off x="1463040" y="3794760"/>
            <a:ext cx="9262872" cy="1600200"/>
          </a:xfrm>
          <a:prstGeom prst="roundRect">
            <a:avLst>
              <a:gd name="adj" fmla="val 3429"/>
            </a:avLst>
          </a:prstGeom>
          <a:solidFill>
            <a:srgbClr val="FFFFFF"/>
          </a:solidFill>
          <a:ln w="12700">
            <a:solidFill>
              <a:srgbClr val="D8E0E4"/>
            </a:solidFill>
            <a:prstDash val="solid"/>
          </a:ln>
          <a:effectLst>
            <a:outerShdw sx="100000" sy="100000" kx="0" ky="0" algn="bl" rotWithShape="0" blurRad="101600" dist="38100" dir="5400000">
              <a:srgbClr val="000000">
                <a:alpha val="12000"/>
              </a:srgbClr>
            </a:outerShdw>
          </a:effectLst>
        </p:spPr>
      </p:sp>
      <p:sp>
        <p:nvSpPr>
          <p:cNvPr id="23" name="Text 21"/>
          <p:cNvSpPr/>
          <p:nvPr/>
        </p:nvSpPr>
        <p:spPr>
          <a:xfrm>
            <a:off x="1463040" y="3977640"/>
            <a:ext cx="9262872" cy="548640"/>
          </a:xfrm>
          <a:prstGeom prst="rect">
            <a:avLst/>
          </a:prstGeom>
          <a:noFill/>
          <a:ln/>
        </p:spPr>
        <p:txBody>
          <a:bodyPr wrap="square" rtlCol="0" anchor="ctr"/>
          <a:lstStyle/>
          <a:p>
            <a:pPr algn="ctr" indent="0" marL="0">
              <a:buNone/>
            </a:pPr>
            <a:r>
              <a:rPr lang="en-US" sz="2200" b="1" dirty="0">
                <a:solidFill>
                  <a:srgbClr val="0B3142"/>
                </a:solidFill>
                <a:latin typeface="Cambria" pitchFamily="34" charset="0"/>
                <a:ea typeface="Cambria" pitchFamily="34" charset="-122"/>
                <a:cs typeface="Cambria" pitchFamily="34" charset="-120"/>
              </a:rPr>
              <a:t>Demo-complete ≠ production-complete.</a:t>
            </a:r>
            <a:endParaRPr lang="en-US" sz="2200" dirty="0"/>
          </a:p>
        </p:txBody>
      </p:sp>
      <p:sp>
        <p:nvSpPr>
          <p:cNvPr id="24" name="Text 22"/>
          <p:cNvSpPr/>
          <p:nvPr/>
        </p:nvSpPr>
        <p:spPr>
          <a:xfrm>
            <a:off x="1463040" y="4572000"/>
            <a:ext cx="9262872" cy="548640"/>
          </a:xfrm>
          <a:prstGeom prst="rect">
            <a:avLst/>
          </a:prstGeom>
          <a:noFill/>
          <a:ln/>
        </p:spPr>
        <p:txBody>
          <a:bodyPr wrap="square" rtlCol="0" anchor="ctr"/>
          <a:lstStyle/>
          <a:p>
            <a:pPr algn="ctr" indent="0" marL="0">
              <a:buNone/>
            </a:pPr>
            <a:r>
              <a:rPr lang="en-US" sz="1400" b="1" dirty="0">
                <a:solidFill>
                  <a:srgbClr val="C1121F"/>
                </a:solidFill>
                <a:latin typeface="Calibri" pitchFamily="34" charset="0"/>
                <a:ea typeface="Calibri" pitchFamily="34" charset="-122"/>
                <a:cs typeface="Calibri" pitchFamily="34" charset="-120"/>
              </a:rPr>
              <a:t>Not for clinical use. Nothing in this review changes that.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algn="l" indent="0" marL="0">
              <a:buNone/>
            </a:pPr>
            <a:r>
              <a:rPr lang="en-US" sz="2800" b="1" dirty="0">
                <a:solidFill>
                  <a:srgbClr val="0B3142"/>
                </a:solidFill>
                <a:latin typeface="Cambria" pitchFamily="34" charset="0"/>
                <a:ea typeface="Cambria" pitchFamily="34" charset="-122"/>
                <a:cs typeface="Cambria" pitchFamily="34" charset="-120"/>
              </a:rPr>
              <a:t>Seven decisions in the stack</a:t>
            </a:r>
            <a:endParaRPr lang="en-US" sz="2800" dirty="0"/>
          </a:p>
        </p:txBody>
      </p:sp>
      <p:sp>
        <p:nvSpPr>
          <p:cNvPr id="3" name="Text 1"/>
          <p:cNvSpPr/>
          <p:nvPr/>
        </p:nvSpPr>
        <p:spPr>
          <a:xfrm>
            <a:off x="548640" y="932688"/>
            <a:ext cx="11091672" cy="365760"/>
          </a:xfrm>
          <a:prstGeom prst="rect">
            <a:avLst/>
          </a:prstGeom>
          <a:noFill/>
          <a:ln/>
        </p:spPr>
        <p:txBody>
          <a:bodyPr wrap="square" rtlCol="0" anchor="ctr"/>
          <a:lstStyle/>
          <a:p>
            <a:pPr algn="l" indent="0" marL="0">
              <a:buNone/>
            </a:pPr>
            <a:r>
              <a:rPr lang="en-US" sz="1300" i="1" dirty="0">
                <a:solidFill>
                  <a:srgbClr val="5B6B76"/>
                </a:solidFill>
                <a:latin typeface="Calibri" pitchFamily="34" charset="0"/>
                <a:ea typeface="Calibri" pitchFamily="34" charset="-122"/>
                <a:cs typeface="Calibri" pitchFamily="34" charset="-120"/>
              </a:rPr>
              <a:t>Why each piece is here — and what it actually does in the shipped code.</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914400"/>
        </p:xfrm>
        <a:graphic>
          <a:graphicData uri="http://schemas.openxmlformats.org/drawingml/2006/table">
            <a:tbl>
              <a:tblPr/>
              <a:tblGrid>
                <a:gridCol w="2286000"/>
                <a:gridCol w="4114800"/>
                <a:gridCol w="4873752"/>
              </a:tblGrid>
              <a:tr h="41148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Component</a:t>
                      </a:r>
                      <a:endParaRPr lang="en-US" sz="125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028090"/>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Why it's here</a:t>
                      </a:r>
                      <a:endParaRPr lang="en-US" sz="125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028090"/>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you actually get</a:t>
                      </a:r>
                      <a:endParaRPr lang="en-US" sz="125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028090"/>
                    </a:solidFill>
                  </a:tcPr>
                </a:tc>
              </a:tr>
              <a:tr h="621792">
                <a:tc>
                  <a:txBody>
                    <a:bodyPr/>
                    <a:lstStyle/>
                    <a:p>
                      <a:pPr indent="0" marL="0">
                        <a:buNone/>
                      </a:pPr>
                      <a:r>
                        <a:rPr lang="en-US" sz="1150" b="1" dirty="0">
                          <a:solidFill>
                            <a:srgbClr val="0B3142"/>
                          </a:solidFill>
                          <a:latin typeface="Calibri" pitchFamily="34" charset="0"/>
                          <a:ea typeface="Calibri" pitchFamily="34" charset="-122"/>
                          <a:cs typeface="Calibri" pitchFamily="34" charset="-120"/>
                        </a:rPr>
                        <a:t>LangGraph</a:t>
                      </a:r>
                      <a:endParaRPr lang="en-US" sz="115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Typed shared state, conditional edges, interrupt_before HITL</a:t>
                      </a:r>
                      <a:endParaRPr lang="en-US" sz="110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The real backbone — 3-way fan-out, graph pause/resume, not a linear script</a:t>
                      </a:r>
                      <a:endParaRPr lang="en-US" sz="110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r>
              <a:tr h="621792">
                <a:tc>
                  <a:txBody>
                    <a:bodyPr/>
                    <a:lstStyle/>
                    <a:p>
                      <a:pPr indent="0" marL="0">
                        <a:buNone/>
                      </a:pPr>
                      <a:r>
                        <a:rPr lang="en-US" sz="1150" b="1" dirty="0">
                          <a:solidFill>
                            <a:srgbClr val="0B3142"/>
                          </a:solidFill>
                          <a:latin typeface="Calibri" pitchFamily="34" charset="0"/>
                          <a:ea typeface="Calibri" pitchFamily="34" charset="-122"/>
                          <a:cs typeface="Calibri" pitchFamily="34" charset="-120"/>
                        </a:rPr>
                        <a:t>LangChain</a:t>
                      </a:r>
                      <a:endParaRPr lang="en-US" sz="115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7F9F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Only langchain-core, required by LangGraph itself</a:t>
                      </a:r>
                      <a:endParaRPr lang="en-US" sz="110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7F9F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No LCEL chains, no ChatOpenAI, no tool-calling agents — mostly a label</a:t>
                      </a:r>
                      <a:endParaRPr lang="en-US" sz="110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7F9FA"/>
                    </a:solidFill>
                  </a:tcPr>
                </a:tc>
              </a:tr>
              <a:tr h="621792">
                <a:tc>
                  <a:txBody>
                    <a:bodyPr/>
                    <a:lstStyle/>
                    <a:p>
                      <a:pPr indent="0" marL="0">
                        <a:buNone/>
                      </a:pPr>
                      <a:r>
                        <a:rPr lang="en-US" sz="1150" b="1" dirty="0">
                          <a:solidFill>
                            <a:srgbClr val="0B3142"/>
                          </a:solidFill>
                          <a:latin typeface="Calibri" pitchFamily="34" charset="0"/>
                          <a:ea typeface="Calibri" pitchFamily="34" charset="-122"/>
                          <a:cs typeface="Calibri" pitchFamily="34" charset="-120"/>
                        </a:rPr>
                        <a:t>FastAPI + Pydantic v2</a:t>
                      </a:r>
                      <a:endParaRPr lang="en-US" sz="115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HTTP shell: multipart upload, typed ReviewRequest, OpenAPI</a:t>
                      </a:r>
                      <a:endParaRPr lang="en-US" sz="110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Graph runs in a daemon thread, not an async worker</a:t>
                      </a:r>
                      <a:endParaRPr lang="en-US" sz="110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r>
              <a:tr h="621792">
                <a:tc>
                  <a:txBody>
                    <a:bodyPr/>
                    <a:lstStyle/>
                    <a:p>
                      <a:pPr indent="0" marL="0">
                        <a:buNone/>
                      </a:pPr>
                      <a:r>
                        <a:rPr lang="en-US" sz="1150" b="1" dirty="0">
                          <a:solidFill>
                            <a:srgbClr val="0B3142"/>
                          </a:solidFill>
                          <a:latin typeface="Calibri" pitchFamily="34" charset="0"/>
                          <a:ea typeface="Calibri" pitchFamily="34" charset="-122"/>
                          <a:cs typeface="Calibri" pitchFamily="34" charset="-120"/>
                        </a:rPr>
                        <a:t>React + Vite + Tailwind</a:t>
                      </a:r>
                      <a:endParaRPr lang="en-US" sz="115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7F9F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Clinician-looking SPA, matches the “no authentication” brief</a:t>
                      </a:r>
                      <a:endParaRPr lang="en-US" sz="110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7F9F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Local state + EventSource + 1.2s poll — no auth library, no state manager</a:t>
                      </a:r>
                      <a:endParaRPr lang="en-US" sz="110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7F9FA"/>
                    </a:solidFill>
                  </a:tcPr>
                </a:tc>
              </a:tr>
              <a:tr h="621792">
                <a:tc>
                  <a:txBody>
                    <a:bodyPr/>
                    <a:lstStyle/>
                    <a:p>
                      <a:pPr indent="0" marL="0">
                        <a:buNone/>
                      </a:pPr>
                      <a:r>
                        <a:rPr lang="en-US" sz="1150" b="1" dirty="0">
                          <a:solidFill>
                            <a:srgbClr val="0B3142"/>
                          </a:solidFill>
                          <a:latin typeface="Calibri" pitchFamily="34" charset="0"/>
                          <a:ea typeface="Calibri" pitchFamily="34" charset="-122"/>
                          <a:cs typeface="Calibri" pitchFamily="34" charset="-120"/>
                        </a:rPr>
                        <a:t>Hybrid RAG</a:t>
                      </a:r>
                      <a:endParaRPr lang="en-US" sz="115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Retrieval has to work with zero API keys</a:t>
                      </a:r>
                      <a:endParaRPr lang="en-US" sz="110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Lexical overlap always runs; Chroma + embeddings only if OPENAI_API_KEY is set</a:t>
                      </a:r>
                      <a:endParaRPr lang="en-US" sz="110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r>
              <a:tr h="621792">
                <a:tc>
                  <a:txBody>
                    <a:bodyPr/>
                    <a:lstStyle/>
                    <a:p>
                      <a:pPr indent="0" marL="0">
                        <a:buNone/>
                      </a:pPr>
                      <a:r>
                        <a:rPr lang="en-US" sz="1150" b="1" dirty="0">
                          <a:solidFill>
                            <a:srgbClr val="0B3142"/>
                          </a:solidFill>
                          <a:latin typeface="Calibri" pitchFamily="34" charset="0"/>
                          <a:ea typeface="Calibri" pitchFamily="34" charset="-122"/>
                          <a:cs typeface="Calibri" pitchFamily="34" charset="-120"/>
                        </a:rPr>
                        <a:t>Tenacity + httpx</a:t>
                      </a:r>
                      <a:endParaRPr lang="en-US" sz="115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7F9F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Wrap the flaky edges: PDF I/O, LLM calls, PubMed, openFDA</a:t>
                      </a:r>
                      <a:endParaRPr lang="en-US" sz="110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7F9F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Labs never leave the process — regex + reference_ranges.json only</a:t>
                      </a:r>
                      <a:endParaRPr lang="en-US" sz="110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7F9FA"/>
                    </a:solidFill>
                  </a:tcPr>
                </a:tc>
              </a:tr>
              <a:tr h="621792">
                <a:tc>
                  <a:txBody>
                    <a:bodyPr/>
                    <a:lstStyle/>
                    <a:p>
                      <a:pPr indent="0" marL="0">
                        <a:buNone/>
                      </a:pPr>
                      <a:r>
                        <a:rPr lang="en-US" sz="1150" b="1" dirty="0">
                          <a:solidFill>
                            <a:srgbClr val="0B3142"/>
                          </a:solidFill>
                          <a:latin typeface="Calibri" pitchFamily="34" charset="0"/>
                          <a:ea typeface="Calibri" pitchFamily="34" charset="-122"/>
                          <a:cs typeface="Calibri" pitchFamily="34" charset="-120"/>
                        </a:rPr>
                        <a:t>Mock LLM (default)</a:t>
                      </a:r>
                      <a:endParaRPr lang="en-US" sz="115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Demo day can't depend on a key or a rate limit</a:t>
                      </a:r>
                      <a:endParaRPr lang="en-US" sz="110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Full graph, HITL, RAG, and UI still run on heuristics</a:t>
                      </a:r>
                      <a:endParaRPr lang="en-US" sz="1100" dirty="0">
                        <a:latin typeface="Calibri" charset="0"/>
                        <a:ea typeface="Calibri" charset="0"/>
                        <a:cs typeface="Calibri" charset="0"/>
                      </a:endParaRPr>
                    </a:p>
                  </a:txBody>
                  <a:tcPr marL="91440" marR="91440" marT="45720" marB="45720"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algn="l" indent="0" marL="0">
              <a:buNone/>
            </a:pPr>
            <a:r>
              <a:rPr lang="en-US" sz="2800" b="1" dirty="0">
                <a:solidFill>
                  <a:srgbClr val="0B3142"/>
                </a:solidFill>
                <a:latin typeface="Cambria" pitchFamily="34" charset="0"/>
                <a:ea typeface="Cambria" pitchFamily="34" charset="-122"/>
                <a:cs typeface="Cambria" pitchFamily="34" charset="-120"/>
              </a:rPr>
              <a:t>How a run moves through the graph</a:t>
            </a:r>
            <a:endParaRPr lang="en-US" sz="2800" dirty="0"/>
          </a:p>
        </p:txBody>
      </p:sp>
      <p:sp>
        <p:nvSpPr>
          <p:cNvPr id="3" name="Text 1"/>
          <p:cNvSpPr/>
          <p:nvPr/>
        </p:nvSpPr>
        <p:spPr>
          <a:xfrm>
            <a:off x="548640" y="932688"/>
            <a:ext cx="11091672" cy="365760"/>
          </a:xfrm>
          <a:prstGeom prst="rect">
            <a:avLst/>
          </a:prstGeom>
          <a:noFill/>
          <a:ln/>
        </p:spPr>
        <p:txBody>
          <a:bodyPr wrap="square" rtlCol="0" anchor="ctr"/>
          <a:lstStyle/>
          <a:p>
            <a:pPr algn="l" indent="0" marL="0">
              <a:buNone/>
            </a:pPr>
            <a:r>
              <a:rPr lang="en-US" sz="1300" i="1" dirty="0">
                <a:solidFill>
                  <a:srgbClr val="5B6B76"/>
                </a:solidFill>
                <a:latin typeface="Calibri" pitchFamily="34" charset="0"/>
                <a:ea typeface="Calibri" pitchFamily="34" charset="-122"/>
                <a:cs typeface="Calibri" pitchFamily="34" charset="-120"/>
              </a:rPr>
              <a:t>Ingest → route → critical-only safety check → parallel fan-out → synthesize → summarize → human checkpoint → finalize</a:t>
            </a:r>
            <a:endParaRPr lang="en-US" sz="1300" dirty="0"/>
          </a:p>
        </p:txBody>
      </p:sp>
      <p:sp>
        <p:nvSpPr>
          <p:cNvPr id="4" name="Shape 2"/>
          <p:cNvSpPr/>
          <p:nvPr/>
        </p:nvSpPr>
        <p:spPr>
          <a:xfrm>
            <a:off x="548640" y="2148840"/>
            <a:ext cx="1188720" cy="868680"/>
          </a:xfrm>
          <a:prstGeom prst="roundRect">
            <a:avLst>
              <a:gd name="adj" fmla="val 6316"/>
            </a:avLst>
          </a:prstGeom>
          <a:solidFill>
            <a:srgbClr val="0B3142"/>
          </a:solidFill>
          <a:ln/>
        </p:spPr>
      </p:sp>
      <p:sp>
        <p:nvSpPr>
          <p:cNvPr id="5" name="Text 3"/>
          <p:cNvSpPr/>
          <p:nvPr/>
        </p:nvSpPr>
        <p:spPr>
          <a:xfrm>
            <a:off x="548640" y="2148840"/>
            <a:ext cx="1188720" cy="86868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Ingest</a:t>
            </a:r>
            <a:endParaRPr lang="en-US" sz="1050" dirty="0"/>
          </a:p>
        </p:txBody>
      </p:sp>
      <p:sp>
        <p:nvSpPr>
          <p:cNvPr id="6" name="Shape 4"/>
          <p:cNvSpPr/>
          <p:nvPr/>
        </p:nvSpPr>
        <p:spPr>
          <a:xfrm>
            <a:off x="1956816" y="2148840"/>
            <a:ext cx="1188720" cy="868680"/>
          </a:xfrm>
          <a:prstGeom prst="roundRect">
            <a:avLst>
              <a:gd name="adj" fmla="val 6316"/>
            </a:avLst>
          </a:prstGeom>
          <a:solidFill>
            <a:srgbClr val="028090"/>
          </a:solidFill>
          <a:ln/>
        </p:spPr>
      </p:sp>
      <p:sp>
        <p:nvSpPr>
          <p:cNvPr id="7" name="Text 5"/>
          <p:cNvSpPr/>
          <p:nvPr/>
        </p:nvSpPr>
        <p:spPr>
          <a:xfrm>
            <a:off x="1956816" y="2148840"/>
            <a:ext cx="1188720" cy="86868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Router</a:t>
            </a:r>
            <a:endParaRPr lang="en-US" sz="1050" dirty="0"/>
          </a:p>
        </p:txBody>
      </p:sp>
      <p:sp>
        <p:nvSpPr>
          <p:cNvPr id="8" name="Shape 6"/>
          <p:cNvSpPr/>
          <p:nvPr/>
        </p:nvSpPr>
        <p:spPr>
          <a:xfrm>
            <a:off x="3364992" y="2148840"/>
            <a:ext cx="1188720" cy="868680"/>
          </a:xfrm>
          <a:prstGeom prst="roundRect">
            <a:avLst>
              <a:gd name="adj" fmla="val 6316"/>
            </a:avLst>
          </a:prstGeom>
          <a:solidFill>
            <a:srgbClr val="0B3142"/>
          </a:solidFill>
          <a:ln/>
        </p:spPr>
      </p:sp>
      <p:sp>
        <p:nvSpPr>
          <p:cNvPr id="9" name="Text 7"/>
          <p:cNvSpPr/>
          <p:nvPr/>
        </p:nvSpPr>
        <p:spPr>
          <a:xfrm>
            <a:off x="3364992" y="2148840"/>
            <a:ext cx="1188720" cy="86868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Urgent</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Safety*</a:t>
            </a:r>
            <a:endParaRPr lang="en-US" sz="1050" dirty="0"/>
          </a:p>
        </p:txBody>
      </p:sp>
      <p:sp>
        <p:nvSpPr>
          <p:cNvPr id="10" name="Shape 8"/>
          <p:cNvSpPr/>
          <p:nvPr/>
        </p:nvSpPr>
        <p:spPr>
          <a:xfrm>
            <a:off x="4773168" y="2148840"/>
            <a:ext cx="1188720" cy="868680"/>
          </a:xfrm>
          <a:prstGeom prst="roundRect">
            <a:avLst>
              <a:gd name="adj" fmla="val 6316"/>
            </a:avLst>
          </a:prstGeom>
          <a:solidFill>
            <a:srgbClr val="4C5B78"/>
          </a:solidFill>
          <a:ln/>
        </p:spPr>
      </p:sp>
      <p:sp>
        <p:nvSpPr>
          <p:cNvPr id="11" name="Text 9"/>
          <p:cNvSpPr/>
          <p:nvPr/>
        </p:nvSpPr>
        <p:spPr>
          <a:xfrm>
            <a:off x="4773168" y="2148840"/>
            <a:ext cx="1188720" cy="86868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Fan-out</a:t>
            </a:r>
            <a:endParaRPr lang="en-US" sz="1050" dirty="0"/>
          </a:p>
        </p:txBody>
      </p:sp>
      <p:sp>
        <p:nvSpPr>
          <p:cNvPr id="12" name="Shape 10"/>
          <p:cNvSpPr/>
          <p:nvPr/>
        </p:nvSpPr>
        <p:spPr>
          <a:xfrm>
            <a:off x="6181344" y="2148840"/>
            <a:ext cx="1188720" cy="868680"/>
          </a:xfrm>
          <a:prstGeom prst="roundRect">
            <a:avLst>
              <a:gd name="adj" fmla="val 6316"/>
            </a:avLst>
          </a:prstGeom>
          <a:solidFill>
            <a:srgbClr val="0B3142"/>
          </a:solidFill>
          <a:ln/>
        </p:spPr>
      </p:sp>
      <p:sp>
        <p:nvSpPr>
          <p:cNvPr id="13" name="Text 11"/>
          <p:cNvSpPr/>
          <p:nvPr/>
        </p:nvSpPr>
        <p:spPr>
          <a:xfrm>
            <a:off x="6181344" y="2148840"/>
            <a:ext cx="1188720" cy="86868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Synthesize</a:t>
            </a:r>
            <a:endParaRPr lang="en-US" sz="1050" dirty="0"/>
          </a:p>
        </p:txBody>
      </p:sp>
      <p:sp>
        <p:nvSpPr>
          <p:cNvPr id="14" name="Shape 12"/>
          <p:cNvSpPr/>
          <p:nvPr/>
        </p:nvSpPr>
        <p:spPr>
          <a:xfrm>
            <a:off x="7589520" y="2148840"/>
            <a:ext cx="1188720" cy="868680"/>
          </a:xfrm>
          <a:prstGeom prst="roundRect">
            <a:avLst>
              <a:gd name="adj" fmla="val 6316"/>
            </a:avLst>
          </a:prstGeom>
          <a:solidFill>
            <a:srgbClr val="028090"/>
          </a:solidFill>
          <a:ln/>
        </p:spPr>
      </p:sp>
      <p:sp>
        <p:nvSpPr>
          <p:cNvPr id="15" name="Text 13"/>
          <p:cNvSpPr/>
          <p:nvPr/>
        </p:nvSpPr>
        <p:spPr>
          <a:xfrm>
            <a:off x="7589520" y="2148840"/>
            <a:ext cx="1188720" cy="86868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Summary +</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Recs</a:t>
            </a:r>
            <a:endParaRPr lang="en-US" sz="1050" dirty="0"/>
          </a:p>
        </p:txBody>
      </p:sp>
      <p:sp>
        <p:nvSpPr>
          <p:cNvPr id="16" name="Shape 14"/>
          <p:cNvSpPr/>
          <p:nvPr/>
        </p:nvSpPr>
        <p:spPr>
          <a:xfrm>
            <a:off x="8997696" y="2148840"/>
            <a:ext cx="1188720" cy="868680"/>
          </a:xfrm>
          <a:prstGeom prst="roundRect">
            <a:avLst>
              <a:gd name="adj" fmla="val 6316"/>
            </a:avLst>
          </a:prstGeom>
          <a:solidFill>
            <a:srgbClr val="0B3142"/>
          </a:solidFill>
          <a:ln/>
        </p:spPr>
      </p:sp>
      <p:sp>
        <p:nvSpPr>
          <p:cNvPr id="17" name="Text 15"/>
          <p:cNvSpPr/>
          <p:nvPr/>
        </p:nvSpPr>
        <p:spPr>
          <a:xfrm>
            <a:off x="8997696" y="2148840"/>
            <a:ext cx="1188720" cy="86868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Safety →</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HITL ⏸</a:t>
            </a:r>
            <a:endParaRPr lang="en-US" sz="1050" dirty="0"/>
          </a:p>
        </p:txBody>
      </p:sp>
      <p:sp>
        <p:nvSpPr>
          <p:cNvPr id="18" name="Shape 16"/>
          <p:cNvSpPr/>
          <p:nvPr/>
        </p:nvSpPr>
        <p:spPr>
          <a:xfrm>
            <a:off x="10405872" y="2148840"/>
            <a:ext cx="1188720" cy="868680"/>
          </a:xfrm>
          <a:prstGeom prst="roundRect">
            <a:avLst>
              <a:gd name="adj" fmla="val 6316"/>
            </a:avLst>
          </a:prstGeom>
          <a:solidFill>
            <a:srgbClr val="0B3142"/>
          </a:solidFill>
          <a:ln/>
        </p:spPr>
      </p:sp>
      <p:sp>
        <p:nvSpPr>
          <p:cNvPr id="19" name="Text 17"/>
          <p:cNvSpPr/>
          <p:nvPr/>
        </p:nvSpPr>
        <p:spPr>
          <a:xfrm>
            <a:off x="10405872" y="2148840"/>
            <a:ext cx="1188720" cy="86868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Finalize</a:t>
            </a:r>
            <a:endParaRPr lang="en-US" sz="1050" dirty="0"/>
          </a:p>
        </p:txBody>
      </p:sp>
      <p:sp>
        <p:nvSpPr>
          <p:cNvPr id="20" name="Shape 18"/>
          <p:cNvSpPr/>
          <p:nvPr/>
        </p:nvSpPr>
        <p:spPr>
          <a:xfrm>
            <a:off x="1737360" y="2583180"/>
            <a:ext cx="219456" cy="0"/>
          </a:xfrm>
          <a:prstGeom prst="line">
            <a:avLst/>
          </a:prstGeom>
          <a:noFill/>
          <a:ln w="19050">
            <a:solidFill>
              <a:srgbClr val="5B6B76"/>
            </a:solidFill>
            <a:prstDash val="solid"/>
            <a:tailEnd type="triangle"/>
          </a:ln>
        </p:spPr>
      </p:sp>
      <p:sp>
        <p:nvSpPr>
          <p:cNvPr id="21" name="Shape 19"/>
          <p:cNvSpPr/>
          <p:nvPr/>
        </p:nvSpPr>
        <p:spPr>
          <a:xfrm>
            <a:off x="3145536" y="2583180"/>
            <a:ext cx="219456" cy="0"/>
          </a:xfrm>
          <a:prstGeom prst="line">
            <a:avLst/>
          </a:prstGeom>
          <a:noFill/>
          <a:ln w="19050">
            <a:solidFill>
              <a:srgbClr val="5B6B76"/>
            </a:solidFill>
            <a:prstDash val="solid"/>
            <a:tailEnd type="triangle"/>
          </a:ln>
        </p:spPr>
      </p:sp>
      <p:sp>
        <p:nvSpPr>
          <p:cNvPr id="22" name="Shape 20"/>
          <p:cNvSpPr/>
          <p:nvPr/>
        </p:nvSpPr>
        <p:spPr>
          <a:xfrm>
            <a:off x="4553712" y="2583180"/>
            <a:ext cx="219456" cy="0"/>
          </a:xfrm>
          <a:prstGeom prst="line">
            <a:avLst/>
          </a:prstGeom>
          <a:noFill/>
          <a:ln w="19050">
            <a:solidFill>
              <a:srgbClr val="5B6B76"/>
            </a:solidFill>
            <a:prstDash val="solid"/>
            <a:tailEnd type="triangle"/>
          </a:ln>
        </p:spPr>
      </p:sp>
      <p:sp>
        <p:nvSpPr>
          <p:cNvPr id="23" name="Shape 21"/>
          <p:cNvSpPr/>
          <p:nvPr/>
        </p:nvSpPr>
        <p:spPr>
          <a:xfrm>
            <a:off x="5961888" y="2583180"/>
            <a:ext cx="219456" cy="0"/>
          </a:xfrm>
          <a:prstGeom prst="line">
            <a:avLst/>
          </a:prstGeom>
          <a:noFill/>
          <a:ln w="19050">
            <a:solidFill>
              <a:srgbClr val="5B6B76"/>
            </a:solidFill>
            <a:prstDash val="solid"/>
            <a:tailEnd type="triangle"/>
          </a:ln>
        </p:spPr>
      </p:sp>
      <p:sp>
        <p:nvSpPr>
          <p:cNvPr id="24" name="Shape 22"/>
          <p:cNvSpPr/>
          <p:nvPr/>
        </p:nvSpPr>
        <p:spPr>
          <a:xfrm>
            <a:off x="7370064" y="2583180"/>
            <a:ext cx="219456" cy="0"/>
          </a:xfrm>
          <a:prstGeom prst="line">
            <a:avLst/>
          </a:prstGeom>
          <a:noFill/>
          <a:ln w="19050">
            <a:solidFill>
              <a:srgbClr val="5B6B76"/>
            </a:solidFill>
            <a:prstDash val="solid"/>
            <a:tailEnd type="triangle"/>
          </a:ln>
        </p:spPr>
      </p:sp>
      <p:sp>
        <p:nvSpPr>
          <p:cNvPr id="25" name="Shape 23"/>
          <p:cNvSpPr/>
          <p:nvPr/>
        </p:nvSpPr>
        <p:spPr>
          <a:xfrm>
            <a:off x="8778240" y="2583180"/>
            <a:ext cx="219456" cy="0"/>
          </a:xfrm>
          <a:prstGeom prst="line">
            <a:avLst/>
          </a:prstGeom>
          <a:noFill/>
          <a:ln w="19050">
            <a:solidFill>
              <a:srgbClr val="5B6B76"/>
            </a:solidFill>
            <a:prstDash val="solid"/>
            <a:tailEnd type="triangle"/>
          </a:ln>
        </p:spPr>
      </p:sp>
      <p:sp>
        <p:nvSpPr>
          <p:cNvPr id="26" name="Shape 24"/>
          <p:cNvSpPr/>
          <p:nvPr/>
        </p:nvSpPr>
        <p:spPr>
          <a:xfrm>
            <a:off x="10186416" y="2583180"/>
            <a:ext cx="219456" cy="0"/>
          </a:xfrm>
          <a:prstGeom prst="line">
            <a:avLst/>
          </a:prstGeom>
          <a:noFill/>
          <a:ln w="19050">
            <a:solidFill>
              <a:srgbClr val="5B6B76"/>
            </a:solidFill>
            <a:prstDash val="solid"/>
            <a:tailEnd type="triangle"/>
          </a:ln>
        </p:spPr>
      </p:sp>
      <p:sp>
        <p:nvSpPr>
          <p:cNvPr id="27" name="Text 25"/>
          <p:cNvSpPr/>
          <p:nvPr/>
        </p:nvSpPr>
        <p:spPr>
          <a:xfrm>
            <a:off x="3044952" y="3090672"/>
            <a:ext cx="1828800" cy="457200"/>
          </a:xfrm>
          <a:prstGeom prst="rect">
            <a:avLst/>
          </a:prstGeom>
          <a:noFill/>
          <a:ln/>
        </p:spPr>
        <p:txBody>
          <a:bodyPr wrap="square" rtlCol="0" anchor="ctr"/>
          <a:lstStyle/>
          <a:p>
            <a:pPr algn="ctr" indent="0" marL="0">
              <a:buNone/>
            </a:pPr>
            <a:r>
              <a:rPr lang="en-US" sz="850" i="1" dirty="0">
                <a:solidFill>
                  <a:srgbClr val="5B6B76"/>
                </a:solidFill>
                <a:latin typeface="Calibri" pitchFamily="34" charset="0"/>
                <a:ea typeface="Calibri" pitchFamily="34" charset="-122"/>
                <a:cs typeface="Calibri" pitchFamily="34" charset="-120"/>
              </a:rPr>
              <a:t>critical cases only —</a:t>
            </a:r>
            <a:endParaRPr lang="en-US" sz="850" dirty="0"/>
          </a:p>
          <a:p>
            <a:pPr algn="ctr" indent="0" marL="0">
              <a:buNone/>
            </a:pPr>
            <a:r>
              <a:rPr lang="en-US" sz="850" i="1" dirty="0">
                <a:solidFill>
                  <a:srgbClr val="5B6B76"/>
                </a:solidFill>
                <a:latin typeface="Calibri" pitchFamily="34" charset="0"/>
                <a:ea typeface="Calibri" pitchFamily="34" charset="-122"/>
                <a:cs typeface="Calibri" pitchFamily="34" charset="-120"/>
              </a:rPr>
              <a:t>before labs run</a:t>
            </a:r>
            <a:endParaRPr lang="en-US" sz="850" dirty="0"/>
          </a:p>
        </p:txBody>
      </p:sp>
      <p:sp>
        <p:nvSpPr>
          <p:cNvPr id="28" name="Text 26"/>
          <p:cNvSpPr/>
          <p:nvPr/>
        </p:nvSpPr>
        <p:spPr>
          <a:xfrm>
            <a:off x="4453128" y="3090672"/>
            <a:ext cx="1828800" cy="457200"/>
          </a:xfrm>
          <a:prstGeom prst="rect">
            <a:avLst/>
          </a:prstGeom>
          <a:noFill/>
          <a:ln/>
        </p:spPr>
        <p:txBody>
          <a:bodyPr wrap="square" rtlCol="0" anchor="ctr"/>
          <a:lstStyle/>
          <a:p>
            <a:pPr algn="ctr" indent="0" marL="0">
              <a:buNone/>
            </a:pPr>
            <a:r>
              <a:rPr lang="en-US" sz="850" i="1" dirty="0">
                <a:solidFill>
                  <a:srgbClr val="5B6B76"/>
                </a:solidFill>
                <a:latin typeface="Calibri" pitchFamily="34" charset="0"/>
                <a:ea typeface="Calibri" pitchFamily="34" charset="-122"/>
                <a:cs typeface="Calibri" pitchFamily="34" charset="-120"/>
              </a:rPr>
              <a:t>Analysis • Labs • RAG</a:t>
            </a:r>
            <a:endParaRPr lang="en-US" sz="850" dirty="0"/>
          </a:p>
          <a:p>
            <a:pPr algn="ctr" indent="0" marL="0">
              <a:buNone/>
            </a:pPr>
            <a:r>
              <a:rPr lang="en-US" sz="850" i="1" dirty="0">
                <a:solidFill>
                  <a:srgbClr val="5B6B76"/>
                </a:solidFill>
                <a:latin typeface="Calibri" pitchFamily="34" charset="0"/>
                <a:ea typeface="Calibri" pitchFamily="34" charset="-122"/>
                <a:cs typeface="Calibri" pitchFamily="34" charset="-120"/>
              </a:rPr>
              <a:t>(parallel)</a:t>
            </a:r>
            <a:endParaRPr lang="en-US" sz="850" dirty="0"/>
          </a:p>
        </p:txBody>
      </p:sp>
      <p:sp>
        <p:nvSpPr>
          <p:cNvPr id="29" name="Text 27"/>
          <p:cNvSpPr/>
          <p:nvPr/>
        </p:nvSpPr>
        <p:spPr>
          <a:xfrm>
            <a:off x="8586216" y="3090672"/>
            <a:ext cx="2011680" cy="457200"/>
          </a:xfrm>
          <a:prstGeom prst="rect">
            <a:avLst/>
          </a:prstGeom>
          <a:noFill/>
          <a:ln/>
        </p:spPr>
        <p:txBody>
          <a:bodyPr wrap="square" rtlCol="0" anchor="ctr"/>
          <a:lstStyle/>
          <a:p>
            <a:pPr algn="ctr" indent="0" marL="0">
              <a:buNone/>
            </a:pPr>
            <a:r>
              <a:rPr lang="en-US" sz="850" i="1" dirty="0">
                <a:solidFill>
                  <a:srgbClr val="5B6B76"/>
                </a:solidFill>
                <a:latin typeface="Calibri" pitchFamily="34" charset="0"/>
                <a:ea typeface="Calibri" pitchFamily="34" charset="-122"/>
                <a:cs typeface="Calibri" pitchFamily="34" charset="-120"/>
              </a:rPr>
              <a:t>graph pauses —</a:t>
            </a:r>
            <a:endParaRPr lang="en-US" sz="850" dirty="0"/>
          </a:p>
          <a:p>
            <a:pPr algn="ctr" indent="0" marL="0">
              <a:buNone/>
            </a:pPr>
            <a:r>
              <a:rPr lang="en-US" sz="850" i="1" dirty="0">
                <a:solidFill>
                  <a:srgbClr val="5B6B76"/>
                </a:solidFill>
                <a:latin typeface="Calibri" pitchFamily="34" charset="0"/>
                <a:ea typeface="Calibri" pitchFamily="34" charset="-122"/>
                <a:cs typeface="Calibri" pitchFamily="34" charset="-120"/>
              </a:rPr>
              <a:t>Approve / Edit / Reject</a:t>
            </a:r>
            <a:endParaRPr lang="en-US" sz="850" dirty="0"/>
          </a:p>
        </p:txBody>
      </p:sp>
      <p:sp>
        <p:nvSpPr>
          <p:cNvPr id="30" name="Shape 28"/>
          <p:cNvSpPr/>
          <p:nvPr/>
        </p:nvSpPr>
        <p:spPr>
          <a:xfrm>
            <a:off x="1280160" y="3977640"/>
            <a:ext cx="201168" cy="201168"/>
          </a:xfrm>
          <a:prstGeom prst="rect">
            <a:avLst/>
          </a:prstGeom>
          <a:solidFill>
            <a:srgbClr val="028090"/>
          </a:solidFill>
          <a:ln/>
        </p:spPr>
      </p:sp>
      <p:sp>
        <p:nvSpPr>
          <p:cNvPr id="31" name="Text 29"/>
          <p:cNvSpPr/>
          <p:nvPr/>
        </p:nvSpPr>
        <p:spPr>
          <a:xfrm>
            <a:off x="1572768" y="3931920"/>
            <a:ext cx="2926080" cy="292608"/>
          </a:xfrm>
          <a:prstGeom prst="rect">
            <a:avLst/>
          </a:prstGeom>
          <a:noFill/>
          <a:ln/>
        </p:spPr>
        <p:txBody>
          <a:bodyPr wrap="square" rtlCol="0" anchor="ctr"/>
          <a:lstStyle/>
          <a:p>
            <a:pPr indent="0" marL="0">
              <a:buNone/>
            </a:pPr>
            <a:r>
              <a:rPr lang="en-US" sz="1050" dirty="0">
                <a:solidFill>
                  <a:srgbClr val="1A1A1A"/>
                </a:solidFill>
                <a:latin typeface="Calibri" pitchFamily="34" charset="0"/>
                <a:ea typeface="Calibri" pitchFamily="34" charset="-122"/>
                <a:cs typeface="Calibri" pitchFamily="34" charset="-120"/>
              </a:rPr>
              <a:t>LLM-assisted (if enabled)</a:t>
            </a:r>
            <a:endParaRPr lang="en-US" sz="1050" dirty="0"/>
          </a:p>
        </p:txBody>
      </p:sp>
      <p:sp>
        <p:nvSpPr>
          <p:cNvPr id="32" name="Shape 30"/>
          <p:cNvSpPr/>
          <p:nvPr/>
        </p:nvSpPr>
        <p:spPr>
          <a:xfrm>
            <a:off x="4846320" y="3977640"/>
            <a:ext cx="201168" cy="201168"/>
          </a:xfrm>
          <a:prstGeom prst="rect">
            <a:avLst/>
          </a:prstGeom>
          <a:solidFill>
            <a:srgbClr val="0B3142"/>
          </a:solidFill>
          <a:ln/>
        </p:spPr>
      </p:sp>
      <p:sp>
        <p:nvSpPr>
          <p:cNvPr id="33" name="Text 31"/>
          <p:cNvSpPr/>
          <p:nvPr/>
        </p:nvSpPr>
        <p:spPr>
          <a:xfrm>
            <a:off x="5138928" y="3931920"/>
            <a:ext cx="2926080" cy="292608"/>
          </a:xfrm>
          <a:prstGeom prst="rect">
            <a:avLst/>
          </a:prstGeom>
          <a:noFill/>
          <a:ln/>
        </p:spPr>
        <p:txBody>
          <a:bodyPr wrap="square" rtlCol="0" anchor="ctr"/>
          <a:lstStyle/>
          <a:p>
            <a:pPr indent="0" marL="0">
              <a:buNone/>
            </a:pPr>
            <a:r>
              <a:rPr lang="en-US" sz="1050" dirty="0">
                <a:solidFill>
                  <a:srgbClr val="1A1A1A"/>
                </a:solidFill>
                <a:latin typeface="Calibri" pitchFamily="34" charset="0"/>
                <a:ea typeface="Calibri" pitchFamily="34" charset="-122"/>
                <a:cs typeface="Calibri" pitchFamily="34" charset="-120"/>
              </a:rPr>
              <a:t>Heuristic / rules only</a:t>
            </a:r>
            <a:endParaRPr lang="en-US" sz="1050" dirty="0"/>
          </a:p>
        </p:txBody>
      </p:sp>
      <p:sp>
        <p:nvSpPr>
          <p:cNvPr id="34" name="Shape 32"/>
          <p:cNvSpPr/>
          <p:nvPr/>
        </p:nvSpPr>
        <p:spPr>
          <a:xfrm>
            <a:off x="8412480" y="3977640"/>
            <a:ext cx="201168" cy="201168"/>
          </a:xfrm>
          <a:prstGeom prst="rect">
            <a:avLst/>
          </a:prstGeom>
          <a:solidFill>
            <a:srgbClr val="4C5B78"/>
          </a:solidFill>
          <a:ln/>
        </p:spPr>
      </p:sp>
      <p:sp>
        <p:nvSpPr>
          <p:cNvPr id="35" name="Text 33"/>
          <p:cNvSpPr/>
          <p:nvPr/>
        </p:nvSpPr>
        <p:spPr>
          <a:xfrm>
            <a:off x="8705088" y="3931920"/>
            <a:ext cx="2926080" cy="292608"/>
          </a:xfrm>
          <a:prstGeom prst="rect">
            <a:avLst/>
          </a:prstGeom>
          <a:noFill/>
          <a:ln/>
        </p:spPr>
        <p:txBody>
          <a:bodyPr wrap="square" rtlCol="0" anchor="ctr"/>
          <a:lstStyle/>
          <a:p>
            <a:pPr indent="0" marL="0">
              <a:buNone/>
            </a:pPr>
            <a:r>
              <a:rPr lang="en-US" sz="1050" dirty="0">
                <a:solidFill>
                  <a:srgbClr val="1A1A1A"/>
                </a:solidFill>
                <a:latin typeface="Calibri" pitchFamily="34" charset="0"/>
                <a:ea typeface="Calibri" pitchFamily="34" charset="-122"/>
                <a:cs typeface="Calibri" pitchFamily="34" charset="-120"/>
              </a:rPr>
              <a:t>Parallel / mixed</a:t>
            </a:r>
            <a:endParaRPr lang="en-US" sz="1050" dirty="0"/>
          </a:p>
        </p:txBody>
      </p:sp>
      <p:sp>
        <p:nvSpPr>
          <p:cNvPr id="36" name="Shape 34"/>
          <p:cNvSpPr/>
          <p:nvPr/>
        </p:nvSpPr>
        <p:spPr>
          <a:xfrm>
            <a:off x="11000232" y="3017520"/>
            <a:ext cx="-713232" cy="1874520"/>
          </a:xfrm>
          <a:prstGeom prst="line">
            <a:avLst/>
          </a:prstGeom>
          <a:noFill/>
          <a:ln w="19050">
            <a:solidFill>
              <a:srgbClr val="5B6B76"/>
            </a:solidFill>
            <a:prstDash val="dash"/>
            <a:tailEnd type="triangle"/>
          </a:ln>
        </p:spPr>
      </p:sp>
      <p:sp>
        <p:nvSpPr>
          <p:cNvPr id="37" name="Shape 35"/>
          <p:cNvSpPr/>
          <p:nvPr/>
        </p:nvSpPr>
        <p:spPr>
          <a:xfrm>
            <a:off x="9052560" y="4892040"/>
            <a:ext cx="2468880" cy="822960"/>
          </a:xfrm>
          <a:prstGeom prst="roundRect">
            <a:avLst>
              <a:gd name="adj" fmla="val 6667"/>
            </a:avLst>
          </a:prstGeom>
          <a:solidFill>
            <a:srgbClr val="5B6B76"/>
          </a:solidFill>
          <a:ln/>
        </p:spPr>
      </p:sp>
      <p:sp>
        <p:nvSpPr>
          <p:cNvPr id="38" name="Text 36"/>
          <p:cNvSpPr/>
          <p:nvPr/>
        </p:nvSpPr>
        <p:spPr>
          <a:xfrm>
            <a:off x="9144000" y="4892040"/>
            <a:ext cx="2286000" cy="82296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Follow-up chat — off-graph</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reads RunRecord + fresh lexical retrieve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algn="l" indent="0" marL="0">
              <a:buNone/>
            </a:pPr>
            <a:r>
              <a:rPr lang="en-US" sz="2800" b="1" dirty="0">
                <a:solidFill>
                  <a:srgbClr val="0B3142"/>
                </a:solidFill>
                <a:latin typeface="Cambria" pitchFamily="34" charset="0"/>
                <a:ea typeface="Cambria" pitchFamily="34" charset="-122"/>
                <a:cs typeface="Cambria" pitchFamily="34" charset="-120"/>
              </a:rPr>
              <a:t>Two state stores, on purpose</a:t>
            </a:r>
            <a:endParaRPr lang="en-US" sz="2800" dirty="0"/>
          </a:p>
        </p:txBody>
      </p:sp>
      <p:sp>
        <p:nvSpPr>
          <p:cNvPr id="3" name="Text 1"/>
          <p:cNvSpPr/>
          <p:nvPr/>
        </p:nvSpPr>
        <p:spPr>
          <a:xfrm>
            <a:off x="548640" y="932688"/>
            <a:ext cx="11091672" cy="365760"/>
          </a:xfrm>
          <a:prstGeom prst="rect">
            <a:avLst/>
          </a:prstGeom>
          <a:noFill/>
          <a:ln/>
        </p:spPr>
        <p:txBody>
          <a:bodyPr wrap="square" rtlCol="0" anchor="ctr"/>
          <a:lstStyle/>
          <a:p>
            <a:pPr algn="l" indent="0" marL="0">
              <a:buNone/>
            </a:pPr>
            <a:r>
              <a:rPr lang="en-US" sz="1300" i="1" dirty="0">
                <a:solidFill>
                  <a:srgbClr val="5B6B76"/>
                </a:solidFill>
                <a:latin typeface="Calibri" pitchFamily="34" charset="0"/>
                <a:ea typeface="Calibri" pitchFamily="34" charset="-122"/>
                <a:cs typeface="Calibri" pitchFamily="34" charset="-120"/>
              </a:rPr>
              <a:t>One holds the live graph cursor. One holds what the UI needs after a reload.</a:t>
            </a:r>
            <a:endParaRPr lang="en-US" sz="1300" dirty="0"/>
          </a:p>
        </p:txBody>
      </p:sp>
      <p:sp>
        <p:nvSpPr>
          <p:cNvPr id="4" name="Shape 2"/>
          <p:cNvSpPr/>
          <p:nvPr/>
        </p:nvSpPr>
        <p:spPr>
          <a:xfrm>
            <a:off x="548640" y="1600200"/>
            <a:ext cx="5120640" cy="3246120"/>
          </a:xfrm>
          <a:prstGeom prst="roundRect">
            <a:avLst>
              <a:gd name="adj" fmla="val 1690"/>
            </a:avLst>
          </a:prstGeom>
          <a:solidFill>
            <a:srgbClr val="FFFFFF"/>
          </a:solidFill>
          <a:ln w="12700">
            <a:solidFill>
              <a:srgbClr val="D8E0E4"/>
            </a:solidFill>
            <a:prstDash val="solid"/>
          </a:ln>
          <a:effectLst>
            <a:outerShdw sx="100000" sy="100000" kx="0" ky="0" algn="bl" rotWithShape="0" blurRad="76200" dist="25400" dir="5400000">
              <a:srgbClr val="000000">
                <a:alpha val="10000"/>
              </a:srgbClr>
            </a:outerShdw>
          </a:effectLst>
        </p:spPr>
      </p:sp>
      <p:sp>
        <p:nvSpPr>
          <p:cNvPr id="5" name="Shape 3"/>
          <p:cNvSpPr/>
          <p:nvPr/>
        </p:nvSpPr>
        <p:spPr>
          <a:xfrm>
            <a:off x="868680" y="1920240"/>
            <a:ext cx="548640" cy="548640"/>
          </a:xfrm>
          <a:prstGeom prst="ellipse">
            <a:avLst/>
          </a:prstGeom>
          <a:solidFill>
            <a:srgbClr val="028090"/>
          </a:solidFill>
          <a:ln/>
        </p:spPr>
      </p:sp>
      <p:sp>
        <p:nvSpPr>
          <p:cNvPr id="6" name="Text 4"/>
          <p:cNvSpPr/>
          <p:nvPr/>
        </p:nvSpPr>
        <p:spPr>
          <a:xfrm>
            <a:off x="868680" y="1920240"/>
            <a:ext cx="54864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7" name="Text 5"/>
          <p:cNvSpPr/>
          <p:nvPr/>
        </p:nvSpPr>
        <p:spPr>
          <a:xfrm>
            <a:off x="1554480" y="1874520"/>
            <a:ext cx="3840480" cy="640080"/>
          </a:xfrm>
          <a:prstGeom prst="rect">
            <a:avLst/>
          </a:prstGeom>
          <a:noFill/>
          <a:ln/>
        </p:spPr>
        <p:txBody>
          <a:bodyPr wrap="square" rtlCol="0" anchor="ctr"/>
          <a:lstStyle/>
          <a:p>
            <a:pPr indent="0" marL="0">
              <a:buNone/>
            </a:pPr>
            <a:r>
              <a:rPr lang="en-US" sz="1550" b="1" dirty="0">
                <a:solidFill>
                  <a:srgbClr val="0B3142"/>
                </a:solidFill>
                <a:latin typeface="Cambria" pitchFamily="34" charset="0"/>
                <a:ea typeface="Cambria" pitchFamily="34" charset="-122"/>
                <a:cs typeface="Cambria" pitchFamily="34" charset="-120"/>
              </a:rPr>
              <a:t>MemorySaver</a:t>
            </a:r>
            <a:endParaRPr lang="en-US" sz="1550" dirty="0"/>
          </a:p>
        </p:txBody>
      </p:sp>
      <p:sp>
        <p:nvSpPr>
          <p:cNvPr id="8" name="Text 6"/>
          <p:cNvSpPr/>
          <p:nvPr/>
        </p:nvSpPr>
        <p:spPr>
          <a:xfrm>
            <a:off x="960120" y="2743200"/>
            <a:ext cx="4297680" cy="1874520"/>
          </a:xfrm>
          <a:prstGeom prst="rect">
            <a:avLst/>
          </a:prstGeom>
          <a:noFill/>
          <a:ln/>
        </p:spPr>
        <p:txBody>
          <a:bodyPr wrap="square" lIns="0" tIns="0" rIns="0" bIns="0" rtlCol="0" anchor="t"/>
          <a:lstStyle/>
          <a:p>
            <a:pPr marL="228600" indent="-228600">
              <a:spcAft>
                <a:spcPts val="1200"/>
              </a:spcAft>
              <a:buSzPct val="100000"/>
              <a:buChar char="•"/>
            </a:pPr>
            <a:r>
              <a:rPr lang="en-US" sz="1250" dirty="0">
                <a:solidFill>
                  <a:srgbClr val="1A1A1A"/>
                </a:solidFill>
                <a:latin typeface="Calibri" pitchFamily="34" charset="0"/>
                <a:ea typeface="Calibri" pitchFamily="34" charset="-122"/>
                <a:cs typeface="Calibri" pitchFamily="34" charset="-120"/>
              </a:rPr>
              <a:t>Holds the live graph cursor — what makes HITL resume possible</a:t>
            </a:r>
            <a:endParaRPr lang="en-US" sz="1250" dirty="0"/>
          </a:p>
          <a:p>
            <a:pPr marL="228600" indent="-228600">
              <a:spcAft>
                <a:spcPts val="1200"/>
              </a:spcAft>
              <a:buSzPct val="100000"/>
              <a:buChar char="•"/>
            </a:pPr>
            <a:r>
              <a:rPr lang="en-US" sz="1250" dirty="0">
                <a:solidFill>
                  <a:srgbClr val="1A1A1A"/>
                </a:solidFill>
                <a:latin typeface="Calibri" pitchFamily="34" charset="0"/>
                <a:ea typeface="Calibri" pitchFamily="34" charset="-122"/>
                <a:cs typeface="Calibri" pitchFamily="34" charset="-120"/>
              </a:rPr>
              <a:t>In-process only: it dies the moment the process dies</a:t>
            </a:r>
            <a:endParaRPr lang="en-US" sz="1250" dirty="0"/>
          </a:p>
          <a:p>
            <a:pPr marL="228600" indent="-228600">
              <a:spcAft>
                <a:spcPts val="1200"/>
              </a:spcAft>
              <a:buSzPct val="100000"/>
              <a:buChar char="•"/>
            </a:pPr>
            <a:r>
              <a:rPr lang="en-US" sz="1250" dirty="0">
                <a:solidFill>
                  <a:srgbClr val="1A1A1A"/>
                </a:solidFill>
                <a:latin typeface="Calibri" pitchFamily="34" charset="0"/>
                <a:ea typeface="Calibri" pitchFamily="34" charset="-122"/>
                <a:cs typeface="Calibri" pitchFamily="34" charset="-120"/>
              </a:rPr>
              <a:t>checkpoint_dir is created on disk and never actually used</a:t>
            </a:r>
            <a:endParaRPr lang="en-US" sz="1250" dirty="0"/>
          </a:p>
        </p:txBody>
      </p:sp>
      <p:sp>
        <p:nvSpPr>
          <p:cNvPr id="9" name="Shape 7"/>
          <p:cNvSpPr/>
          <p:nvPr/>
        </p:nvSpPr>
        <p:spPr>
          <a:xfrm>
            <a:off x="6126480" y="1600200"/>
            <a:ext cx="5120640" cy="3246120"/>
          </a:xfrm>
          <a:prstGeom prst="roundRect">
            <a:avLst>
              <a:gd name="adj" fmla="val 1690"/>
            </a:avLst>
          </a:prstGeom>
          <a:solidFill>
            <a:srgbClr val="FFFFFF"/>
          </a:solidFill>
          <a:ln w="12700">
            <a:solidFill>
              <a:srgbClr val="D8E0E4"/>
            </a:solidFill>
            <a:prstDash val="solid"/>
          </a:ln>
          <a:effectLst>
            <a:outerShdw sx="100000" sy="100000" kx="0" ky="0" algn="bl" rotWithShape="0" blurRad="76200" dist="25400" dir="5400000">
              <a:srgbClr val="000000">
                <a:alpha val="10000"/>
              </a:srgbClr>
            </a:outerShdw>
          </a:effectLst>
        </p:spPr>
      </p:sp>
      <p:sp>
        <p:nvSpPr>
          <p:cNvPr id="10" name="Shape 8"/>
          <p:cNvSpPr/>
          <p:nvPr/>
        </p:nvSpPr>
        <p:spPr>
          <a:xfrm>
            <a:off x="6446520" y="1920240"/>
            <a:ext cx="548640" cy="548640"/>
          </a:xfrm>
          <a:prstGeom prst="ellipse">
            <a:avLst/>
          </a:prstGeom>
          <a:solidFill>
            <a:srgbClr val="0B3142"/>
          </a:solidFill>
          <a:ln/>
        </p:spPr>
      </p:sp>
      <p:sp>
        <p:nvSpPr>
          <p:cNvPr id="11" name="Text 9"/>
          <p:cNvSpPr/>
          <p:nvPr/>
        </p:nvSpPr>
        <p:spPr>
          <a:xfrm>
            <a:off x="6446520" y="1920240"/>
            <a:ext cx="54864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2" name="Text 10"/>
          <p:cNvSpPr/>
          <p:nvPr/>
        </p:nvSpPr>
        <p:spPr>
          <a:xfrm>
            <a:off x="7132320" y="1874520"/>
            <a:ext cx="3840480" cy="640080"/>
          </a:xfrm>
          <a:prstGeom prst="rect">
            <a:avLst/>
          </a:prstGeom>
          <a:noFill/>
          <a:ln/>
        </p:spPr>
        <p:txBody>
          <a:bodyPr wrap="square" rtlCol="0" anchor="ctr"/>
          <a:lstStyle/>
          <a:p>
            <a:pPr indent="0" marL="0">
              <a:buNone/>
            </a:pPr>
            <a:r>
              <a:rPr lang="en-US" sz="1550" b="1" dirty="0">
                <a:solidFill>
                  <a:srgbClr val="0B3142"/>
                </a:solidFill>
                <a:latin typeface="Cambria" pitchFamily="34" charset="0"/>
                <a:ea typeface="Cambria" pitchFamily="34" charset="-122"/>
                <a:cs typeface="Cambria" pitchFamily="34" charset="-120"/>
              </a:rPr>
              <a:t>backend/.runs/records/*.json</a:t>
            </a:r>
            <a:endParaRPr lang="en-US" sz="1550" dirty="0"/>
          </a:p>
        </p:txBody>
      </p:sp>
      <p:sp>
        <p:nvSpPr>
          <p:cNvPr id="13" name="Text 11"/>
          <p:cNvSpPr/>
          <p:nvPr/>
        </p:nvSpPr>
        <p:spPr>
          <a:xfrm>
            <a:off x="6537960" y="2743200"/>
            <a:ext cx="4297680" cy="1874520"/>
          </a:xfrm>
          <a:prstGeom prst="rect">
            <a:avLst/>
          </a:prstGeom>
          <a:noFill/>
          <a:ln/>
        </p:spPr>
        <p:txBody>
          <a:bodyPr wrap="square" lIns="0" tIns="0" rIns="0" bIns="0" rtlCol="0" anchor="t"/>
          <a:lstStyle/>
          <a:p>
            <a:pPr marL="228600" indent="-228600">
              <a:spcAft>
                <a:spcPts val="1200"/>
              </a:spcAft>
              <a:buSzPct val="100000"/>
              <a:buChar char="•"/>
            </a:pPr>
            <a:r>
              <a:rPr lang="en-US" sz="1250" dirty="0">
                <a:solidFill>
                  <a:srgbClr val="1A1A1A"/>
                </a:solidFill>
                <a:latin typeface="Calibri" pitchFamily="34" charset="0"/>
                <a:ea typeface="Calibri" pitchFamily="34" charset="-122"/>
                <a:cs typeface="Calibri" pitchFamily="34" charset="-120"/>
              </a:rPr>
              <a:t>Holds what the UI needs to redraw a run after a page reload</a:t>
            </a:r>
            <a:endParaRPr lang="en-US" sz="1250" dirty="0"/>
          </a:p>
          <a:p>
            <a:pPr marL="228600" indent="-228600">
              <a:spcAft>
                <a:spcPts val="1200"/>
              </a:spcAft>
              <a:buSzPct val="100000"/>
              <a:buChar char="•"/>
            </a:pPr>
            <a:r>
              <a:rPr lang="en-US" sz="1250" dirty="0">
                <a:solidFill>
                  <a:srgbClr val="1A1A1A"/>
                </a:solidFill>
                <a:latin typeface="Calibri" pitchFamily="34" charset="0"/>
                <a:ea typeface="Calibri" pitchFamily="34" charset="-122"/>
                <a:cs typeface="Calibri" pitchFamily="34" charset="-120"/>
              </a:rPr>
              <a:t>Survives process restarts — a durable, if minimal, record</a:t>
            </a:r>
            <a:endParaRPr lang="en-US" sz="1250" dirty="0"/>
          </a:p>
          <a:p>
            <a:pPr marL="228600" indent="-228600">
              <a:spcAft>
                <a:spcPts val="1200"/>
              </a:spcAft>
              <a:buSzPct val="100000"/>
              <a:buChar char="•"/>
            </a:pPr>
            <a:r>
              <a:rPr lang="en-US" sz="1250" dirty="0">
                <a:solidFill>
                  <a:srgbClr val="1A1A1A"/>
                </a:solidFill>
                <a:latin typeface="Calibri" pitchFamily="34" charset="0"/>
                <a:ea typeface="Calibri" pitchFamily="34" charset="-122"/>
                <a:cs typeface="Calibri" pitchFamily="34" charset="-120"/>
              </a:rPr>
              <a:t>If the checkpointer is gone, Approve/Edit can still finalize the stored draft</a:t>
            </a:r>
            <a:endParaRPr lang="en-US" sz="1250" dirty="0"/>
          </a:p>
        </p:txBody>
      </p:sp>
      <p:sp>
        <p:nvSpPr>
          <p:cNvPr id="14" name="Shape 12"/>
          <p:cNvSpPr/>
          <p:nvPr/>
        </p:nvSpPr>
        <p:spPr>
          <a:xfrm>
            <a:off x="548640" y="5074920"/>
            <a:ext cx="11091672" cy="960120"/>
          </a:xfrm>
          <a:prstGeom prst="roundRect">
            <a:avLst>
              <a:gd name="adj" fmla="val 5714"/>
            </a:avLst>
          </a:prstGeom>
          <a:solidFill>
            <a:srgbClr val="FCEFD1"/>
          </a:solidFill>
          <a:ln w="12700">
            <a:solidFill>
              <a:srgbClr val="D98E04"/>
            </a:solidFill>
            <a:prstDash val="solid"/>
          </a:ln>
        </p:spPr>
      </p:sp>
      <p:sp>
        <p:nvSpPr>
          <p:cNvPr id="15" name="Text 13"/>
          <p:cNvSpPr/>
          <p:nvPr/>
        </p:nvSpPr>
        <p:spPr>
          <a:xfrm>
            <a:off x="822960" y="5074920"/>
            <a:ext cx="10543032" cy="960120"/>
          </a:xfrm>
          <a:prstGeom prst="rect">
            <a:avLst/>
          </a:prstGeom>
          <a:noFill/>
          <a:ln/>
        </p:spPr>
        <p:txBody>
          <a:bodyPr wrap="square" rtlCol="0" anchor="ctr"/>
          <a:lstStyle/>
          <a:p>
            <a:pPr algn="l" indent="0" marL="0">
              <a:buNone/>
            </a:pPr>
            <a:r>
              <a:rPr lang="en-US" sz="1400" b="1" dirty="0">
                <a:solidFill>
                  <a:srgbClr val="6B4A00"/>
                </a:solidFill>
                <a:latin typeface="Calibri" pitchFamily="34" charset="0"/>
                <a:ea typeface="Calibri" pitchFamily="34" charset="-122"/>
                <a:cs typeface="Calibri" pitchFamily="34" charset="-120"/>
              </a:rPr>
              <a:t>Reject cannot regenerate. Regeneration needs the live LangGraph cursor — not just the stored JSON record.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algn="l" indent="0" marL="0">
              <a:buNone/>
            </a:pPr>
            <a:r>
              <a:rPr lang="en-US" sz="2800" b="1" dirty="0">
                <a:solidFill>
                  <a:srgbClr val="0B3142"/>
                </a:solidFill>
                <a:latin typeface="Cambria" pitchFamily="34" charset="0"/>
                <a:ea typeface="Cambria" pitchFamily="34" charset="-122"/>
                <a:cs typeface="Cambria" pitchFamily="34" charset="-120"/>
              </a:rPr>
              <a:t>Observability: what's actually wired</a:t>
            </a:r>
            <a:endParaRPr lang="en-US" sz="2800" dirty="0"/>
          </a:p>
        </p:txBody>
      </p:sp>
      <p:sp>
        <p:nvSpPr>
          <p:cNvPr id="3" name="Text 1"/>
          <p:cNvSpPr/>
          <p:nvPr/>
        </p:nvSpPr>
        <p:spPr>
          <a:xfrm>
            <a:off x="548640" y="932688"/>
            <a:ext cx="11091672" cy="365760"/>
          </a:xfrm>
          <a:prstGeom prst="rect">
            <a:avLst/>
          </a:prstGeom>
          <a:noFill/>
          <a:ln/>
        </p:spPr>
        <p:txBody>
          <a:bodyPr wrap="square" rtlCol="0" anchor="ctr"/>
          <a:lstStyle/>
          <a:p>
            <a:pPr algn="l" indent="0" marL="0">
              <a:buNone/>
            </a:pPr>
            <a:r>
              <a:rPr lang="en-US" sz="1300" i="1" dirty="0">
                <a:solidFill>
                  <a:srgbClr val="5B6B76"/>
                </a:solidFill>
                <a:latin typeface="Calibri" pitchFamily="34" charset="0"/>
                <a:ea typeface="Calibri" pitchFamily="34" charset="-122"/>
                <a:cs typeface="Calibri" pitchFamily="34" charset="-120"/>
              </a:rPr>
              <a:t>/events polls the JSON record every 250ms. It is not a message bus.</a:t>
            </a:r>
            <a:endParaRPr lang="en-US" sz="1300" dirty="0"/>
          </a:p>
        </p:txBody>
      </p:sp>
      <p:sp>
        <p:nvSpPr>
          <p:cNvPr id="4" name="Shape 2"/>
          <p:cNvSpPr/>
          <p:nvPr/>
        </p:nvSpPr>
        <p:spPr>
          <a:xfrm>
            <a:off x="548640" y="1783080"/>
            <a:ext cx="502920" cy="502920"/>
          </a:xfrm>
          <a:prstGeom prst="ellipse">
            <a:avLst/>
          </a:prstGeom>
          <a:solidFill>
            <a:srgbClr val="1F7A5C"/>
          </a:solidFill>
          <a:ln/>
        </p:spPr>
      </p:sp>
      <p:sp>
        <p:nvSpPr>
          <p:cNvPr id="5" name="Text 3"/>
          <p:cNvSpPr/>
          <p:nvPr/>
        </p:nvSpPr>
        <p:spPr>
          <a:xfrm>
            <a:off x="548640" y="178308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p:nvPr/>
        </p:nvSpPr>
        <p:spPr>
          <a:xfrm>
            <a:off x="1188720" y="1783080"/>
            <a:ext cx="4297680" cy="502920"/>
          </a:xfrm>
          <a:prstGeom prst="rect">
            <a:avLst/>
          </a:prstGeom>
          <a:noFill/>
          <a:ln/>
        </p:spPr>
        <p:txBody>
          <a:bodyPr wrap="square" rtlCol="0" anchor="ctr"/>
          <a:lstStyle/>
          <a:p>
            <a:pPr indent="0" marL="0">
              <a:buNone/>
            </a:pPr>
            <a:r>
              <a:rPr lang="en-US" sz="1700" b="1" dirty="0">
                <a:solidFill>
                  <a:srgbClr val="0B3142"/>
                </a:solidFill>
                <a:latin typeface="Cambria" pitchFamily="34" charset="0"/>
                <a:ea typeface="Cambria" pitchFamily="34" charset="-122"/>
                <a:cs typeface="Cambria" pitchFamily="34" charset="-120"/>
              </a:rPr>
              <a:t>What works</a:t>
            </a:r>
            <a:endParaRPr lang="en-US" sz="1700" dirty="0"/>
          </a:p>
        </p:txBody>
      </p:sp>
      <p:sp>
        <p:nvSpPr>
          <p:cNvPr id="7" name="Text 5"/>
          <p:cNvSpPr/>
          <p:nvPr/>
        </p:nvSpPr>
        <p:spPr>
          <a:xfrm>
            <a:off x="640080" y="2468880"/>
            <a:ext cx="4937760" cy="3108960"/>
          </a:xfrm>
          <a:prstGeom prst="rect">
            <a:avLst/>
          </a:prstGeom>
          <a:noFill/>
          <a:ln/>
        </p:spPr>
        <p:txBody>
          <a:bodyPr wrap="square" rtlCol="0" anchor="t"/>
          <a:lstStyle/>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Run counts in the Observability panel</a:t>
            </a:r>
            <a:endParaRPr lang="en-US" sz="1300" dirty="0"/>
          </a:p>
        </p:txBody>
      </p:sp>
      <p:sp>
        <p:nvSpPr>
          <p:cNvPr id="8" name="Shape 6"/>
          <p:cNvSpPr/>
          <p:nvPr/>
        </p:nvSpPr>
        <p:spPr>
          <a:xfrm>
            <a:off x="6309360" y="1783080"/>
            <a:ext cx="502920" cy="502920"/>
          </a:xfrm>
          <a:prstGeom prst="ellipse">
            <a:avLst/>
          </a:prstGeom>
          <a:solidFill>
            <a:srgbClr val="C1121F"/>
          </a:solidFill>
          <a:ln/>
        </p:spPr>
      </p:sp>
      <p:sp>
        <p:nvSpPr>
          <p:cNvPr id="9" name="Text 7"/>
          <p:cNvSpPr/>
          <p:nvPr/>
        </p:nvSpPr>
        <p:spPr>
          <a:xfrm>
            <a:off x="6309360" y="178308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p:nvPr/>
        </p:nvSpPr>
        <p:spPr>
          <a:xfrm>
            <a:off x="6949440" y="1783080"/>
            <a:ext cx="4480560" cy="502920"/>
          </a:xfrm>
          <a:prstGeom prst="rect">
            <a:avLst/>
          </a:prstGeom>
          <a:noFill/>
          <a:ln/>
        </p:spPr>
        <p:txBody>
          <a:bodyPr wrap="square" rtlCol="0" anchor="ctr"/>
          <a:lstStyle/>
          <a:p>
            <a:pPr indent="0" marL="0">
              <a:buNone/>
            </a:pPr>
            <a:r>
              <a:rPr lang="en-US" sz="1700" b="1" dirty="0">
                <a:solidFill>
                  <a:srgbClr val="0B3142"/>
                </a:solidFill>
                <a:latin typeface="Cambria" pitchFamily="34" charset="0"/>
                <a:ea typeface="Cambria" pitchFamily="34" charset="-122"/>
                <a:cs typeface="Cambria" pitchFamily="34" charset="-120"/>
              </a:rPr>
              <a:t>What stays empty</a:t>
            </a:r>
            <a:endParaRPr lang="en-US" sz="1700" dirty="0"/>
          </a:p>
        </p:txBody>
      </p:sp>
      <p:sp>
        <p:nvSpPr>
          <p:cNvPr id="11" name="Text 9"/>
          <p:cNvSpPr/>
          <p:nvPr/>
        </p:nvSpPr>
        <p:spPr>
          <a:xfrm>
            <a:off x="6400800" y="2468880"/>
            <a:ext cx="4937760" cy="3108960"/>
          </a:xfrm>
          <a:prstGeom prst="rect">
            <a:avLst/>
          </a:prstGeom>
          <a:noFill/>
          <a:ln/>
        </p:spPr>
        <p:txBody>
          <a:bodyPr wrap="square" rtlCol="0" anchor="t"/>
          <a:lstStyle/>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Per-agent latency</a:t>
            </a:r>
            <a:endParaRPr lang="en-US" sz="1300" dirty="0"/>
          </a:p>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tool_calls counts</a:t>
            </a:r>
            <a:endParaRPr lang="en-US" sz="1300" dirty="0"/>
          </a:p>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Retries — metrics.retries += 0 is a permanent no-op</a:t>
            </a:r>
            <a:endParaRPr lang="en-US" sz="1300" dirty="0"/>
          </a:p>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EventBus (JSONL + metrics.record_event) is never called</a:t>
            </a:r>
            <a:endParaRPr lang="en-US" sz="1300" dirty="0"/>
          </a:p>
        </p:txBody>
      </p:sp>
      <p:sp>
        <p:nvSpPr>
          <p:cNvPr id="12" name="Shape 10"/>
          <p:cNvSpPr/>
          <p:nvPr/>
        </p:nvSpPr>
        <p:spPr>
          <a:xfrm>
            <a:off x="6080760" y="1783080"/>
            <a:ext cx="18288" cy="3931920"/>
          </a:xfrm>
          <a:prstGeom prst="rect">
            <a:avLst/>
          </a:prstGeom>
          <a:solidFill>
            <a:srgbClr val="E3E8EA"/>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algn="l" indent="0" marL="0">
              <a:buNone/>
            </a:pPr>
            <a:r>
              <a:rPr lang="en-US" sz="2800" b="1" dirty="0">
                <a:solidFill>
                  <a:srgbClr val="0B3142"/>
                </a:solidFill>
                <a:latin typeface="Cambria" pitchFamily="34" charset="0"/>
                <a:ea typeface="Cambria" pitchFamily="34" charset="-122"/>
                <a:cs typeface="Cambria" pitchFamily="34" charset="-120"/>
              </a:rPr>
              <a:t>What's actually LLM vs. heuristic</a:t>
            </a:r>
            <a:endParaRPr lang="en-US" sz="2800" dirty="0"/>
          </a:p>
        </p:txBody>
      </p:sp>
      <p:sp>
        <p:nvSpPr>
          <p:cNvPr id="3" name="Text 1"/>
          <p:cNvSpPr/>
          <p:nvPr/>
        </p:nvSpPr>
        <p:spPr>
          <a:xfrm>
            <a:off x="548640" y="932688"/>
            <a:ext cx="11091672" cy="365760"/>
          </a:xfrm>
          <a:prstGeom prst="rect">
            <a:avLst/>
          </a:prstGeom>
          <a:noFill/>
          <a:ln/>
        </p:spPr>
        <p:txBody>
          <a:bodyPr wrap="square" rtlCol="0" anchor="ctr"/>
          <a:lstStyle/>
          <a:p>
            <a:pPr algn="l" indent="0" marL="0">
              <a:buNone/>
            </a:pPr>
            <a:r>
              <a:rPr lang="en-US" sz="1300" i="1" dirty="0">
                <a:solidFill>
                  <a:srgbClr val="5B6B76"/>
                </a:solidFill>
                <a:latin typeface="Calibri" pitchFamily="34" charset="0"/>
                <a:ea typeface="Calibri" pitchFamily="34" charset="-122"/>
                <a:cs typeface="Calibri" pitchFamily="34" charset="-120"/>
              </a:rPr>
              <a:t>Easy to miss — the UI looks identical either way.</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3017520"/>
                <a:gridCol w="2651760"/>
                <a:gridCol w="5605272"/>
              </a:tblGrid>
              <a:tr h="5029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Node</a:t>
                      </a:r>
                      <a:endParaRPr lang="en-US" sz="1300" dirty="0">
                        <a:latin typeface="Calibri" charset="0"/>
                        <a:ea typeface="Calibri" charset="0"/>
                        <a:cs typeface="Calibri" charset="0"/>
                      </a:endParaRPr>
                    </a:p>
                  </a:txBody>
                  <a:tcPr marL="91440" marR="91440" marT="45720" marB="4572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02809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Live LLM?</a:t>
                      </a:r>
                      <a:endParaRPr lang="en-US" sz="1300" dirty="0">
                        <a:latin typeface="Calibri" charset="0"/>
                        <a:ea typeface="Calibri" charset="0"/>
                        <a:cs typeface="Calibri" charset="0"/>
                      </a:endParaRPr>
                    </a:p>
                  </a:txBody>
                  <a:tcPr marL="91440" marR="91440" marT="45720" marB="4572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02809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you actually get</a:t>
                      </a:r>
                      <a:endParaRPr lang="en-US" sz="1300" dirty="0">
                        <a:latin typeface="Calibri" charset="0"/>
                        <a:ea typeface="Calibri" charset="0"/>
                        <a:cs typeface="Calibri" charset="0"/>
                      </a:endParaRPr>
                    </a:p>
                  </a:txBody>
                  <a:tcPr marL="91440" marR="91440" marT="45720" marB="4572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028090"/>
                    </a:solidFill>
                  </a:tcPr>
                </a:tc>
              </a:tr>
              <a:tr h="914400">
                <a:tc>
                  <a:txBody>
                    <a:bodyPr/>
                    <a:lstStyle/>
                    <a:p>
                      <a:pPr indent="0" marL="0">
                        <a:buNone/>
                      </a:pPr>
                      <a:r>
                        <a:rPr lang="en-US" sz="1250" b="1" dirty="0">
                          <a:solidFill>
                            <a:srgbClr val="0B3142"/>
                          </a:solidFill>
                          <a:latin typeface="Calibri" pitchFamily="34" charset="0"/>
                          <a:ea typeface="Calibri" pitchFamily="34" charset="-122"/>
                          <a:cs typeface="Calibri" pitchFamily="34" charset="-120"/>
                        </a:rPr>
                        <a:t>Router, analysis, summary,</a:t>
                      </a:r>
                      <a:endParaRPr lang="en-US" sz="1250" dirty="0">
                        <a:latin typeface="Calibri" charset="0"/>
                        <a:ea typeface="Calibri" charset="0"/>
                        <a:cs typeface="Calibri" charset="0"/>
                      </a:endParaRPr>
                    </a:p>
                    <a:p>
                      <a:pPr indent="0" marL="0">
                        <a:buNone/>
                      </a:pPr>
                      <a:r>
                        <a:rPr lang="en-US" sz="1250" b="1" dirty="0">
                          <a:solidFill>
                            <a:srgbClr val="0B3142"/>
                          </a:solidFill>
                          <a:latin typeface="Calibri" pitchFamily="34" charset="0"/>
                          <a:ea typeface="Calibri" pitchFamily="34" charset="-122"/>
                          <a:cs typeface="Calibri" pitchFamily="34" charset="-120"/>
                        </a:rPr>
                        <a:t>follow-up chat</a:t>
                      </a:r>
                      <a:endParaRPr lang="en-US" sz="1250" dirty="0">
                        <a:latin typeface="Calibri" charset="0"/>
                        <a:ea typeface="Calibri" charset="0"/>
                        <a:cs typeface="Calibri" charset="0"/>
                      </a:endParaRPr>
                    </a:p>
                  </a:txBody>
                  <a:tcPr marL="91440" marR="91440" marT="45720" marB="4572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Yes — if MOCK_LLM=false</a:t>
                      </a:r>
                      <a:endParaRPr lang="en-US" sz="1250" dirty="0">
                        <a:latin typeface="Calibri" charset="0"/>
                        <a:ea typeface="Calibri" charset="0"/>
                        <a:cs typeface="Calibri" charset="0"/>
                      </a:endParaRPr>
                    </a:p>
                    <a:p>
                      <a:pPr indent="0" marL="0">
                        <a:buNone/>
                      </a:pPr>
                      <a:r>
                        <a:rPr lang="en-US" sz="1250" dirty="0">
                          <a:solidFill>
                            <a:srgbClr val="1A1A1A"/>
                          </a:solidFill>
                          <a:latin typeface="Calibri" pitchFamily="34" charset="0"/>
                          <a:ea typeface="Calibri" pitchFamily="34" charset="-122"/>
                          <a:cs typeface="Calibri" pitchFamily="34" charset="-120"/>
                        </a:rPr>
                        <a:t>and a key exists</a:t>
                      </a:r>
                      <a:endParaRPr lang="en-US" sz="1250" dirty="0">
                        <a:latin typeface="Calibri" charset="0"/>
                        <a:ea typeface="Calibri" charset="0"/>
                        <a:cs typeface="Calibri" charset="0"/>
                      </a:endParaRPr>
                    </a:p>
                  </a:txBody>
                  <a:tcPr marL="91440" marR="91440" marT="45720" marB="4572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JSON/SOAP with heuristic</a:t>
                      </a:r>
                      <a:endParaRPr lang="en-US" sz="1200" dirty="0">
                        <a:latin typeface="Calibri" charset="0"/>
                        <a:ea typeface="Calibri" charset="0"/>
                        <a:cs typeface="Calibri" charset="0"/>
                      </a:endParaRPr>
                    </a:p>
                    <a:p>
                      <a:pPr indent="0" marL="0">
                        <a:buNone/>
                      </a:pPr>
                      <a:r>
                        <a:rPr lang="en-US" sz="1200" dirty="0">
                          <a:solidFill>
                            <a:srgbClr val="1A1A1A"/>
                          </a:solidFill>
                          <a:latin typeface="Calibri" pitchFamily="34" charset="0"/>
                          <a:ea typeface="Calibri" pitchFamily="34" charset="-122"/>
                          <a:cs typeface="Calibri" pitchFamily="34" charset="-120"/>
                        </a:rPr>
                        <a:t>fallback if the model returns junk</a:t>
                      </a:r>
                      <a:endParaRPr lang="en-US" sz="1200" dirty="0">
                        <a:latin typeface="Calibri" charset="0"/>
                        <a:ea typeface="Calibri" charset="0"/>
                        <a:cs typeface="Calibri" charset="0"/>
                      </a:endParaRPr>
                    </a:p>
                  </a:txBody>
                  <a:tcPr marL="91440" marR="91440" marT="45720" marB="4572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FFFFF"/>
                    </a:solidFill>
                  </a:tcPr>
                </a:tc>
              </a:tr>
              <a:tr h="777240">
                <a:tc>
                  <a:txBody>
                    <a:bodyPr/>
                    <a:lstStyle/>
                    <a:p>
                      <a:pPr indent="0" marL="0">
                        <a:buNone/>
                      </a:pPr>
                      <a:r>
                        <a:rPr lang="en-US" sz="1250" b="1" dirty="0">
                          <a:solidFill>
                            <a:srgbClr val="0B3142"/>
                          </a:solidFill>
                          <a:latin typeface="Calibri" pitchFamily="34" charset="0"/>
                          <a:ea typeface="Calibri" pitchFamily="34" charset="-122"/>
                          <a:cs typeface="Calibri" pitchFamily="34" charset="-120"/>
                        </a:rPr>
                        <a:t>Ingest, labs, safety,</a:t>
                      </a:r>
                      <a:endParaRPr lang="en-US" sz="1250" dirty="0">
                        <a:latin typeface="Calibri" charset="0"/>
                        <a:ea typeface="Calibri" charset="0"/>
                        <a:cs typeface="Calibri" charset="0"/>
                      </a:endParaRPr>
                    </a:p>
                    <a:p>
                      <a:pPr indent="0" marL="0">
                        <a:buNone/>
                      </a:pPr>
                      <a:r>
                        <a:rPr lang="en-US" sz="1250" b="1" dirty="0">
                          <a:solidFill>
                            <a:srgbClr val="0B3142"/>
                          </a:solidFill>
                          <a:latin typeface="Calibri" pitchFamily="34" charset="0"/>
                          <a:ea typeface="Calibri" pitchFamily="34" charset="-122"/>
                          <a:cs typeface="Calibri" pitchFamily="34" charset="-120"/>
                        </a:rPr>
                        <a:t>HITL, finalize</a:t>
                      </a:r>
                      <a:endParaRPr lang="en-US" sz="1250" dirty="0">
                        <a:latin typeface="Calibri" charset="0"/>
                        <a:ea typeface="Calibri" charset="0"/>
                        <a:cs typeface="Calibri" charset="0"/>
                      </a:endParaRPr>
                    </a:p>
                  </a:txBody>
                  <a:tcPr marL="91440" marR="91440" marT="45720" marB="4572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EFF3F4"/>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Never</a:t>
                      </a:r>
                      <a:endParaRPr lang="en-US" sz="1250" dirty="0">
                        <a:latin typeface="Calibri" charset="0"/>
                        <a:ea typeface="Calibri" charset="0"/>
                        <a:cs typeface="Calibri" charset="0"/>
                      </a:endParaRPr>
                    </a:p>
                  </a:txBody>
                  <a:tcPr marL="91440" marR="91440" marT="45720" marB="4572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EFF3F4"/>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Rules and tools</a:t>
                      </a:r>
                      <a:endParaRPr lang="en-US" sz="1200" dirty="0">
                        <a:latin typeface="Calibri" charset="0"/>
                        <a:ea typeface="Calibri" charset="0"/>
                        <a:cs typeface="Calibri" charset="0"/>
                      </a:endParaRPr>
                    </a:p>
                  </a:txBody>
                  <a:tcPr marL="91440" marR="91440" marT="45720" marB="4572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EFF3F4"/>
                    </a:solidFill>
                  </a:tcPr>
                </a:tc>
              </a:tr>
              <a:tr h="868680">
                <a:tc>
                  <a:txBody>
                    <a:bodyPr/>
                    <a:lstStyle/>
                    <a:p>
                      <a:pPr indent="0" marL="0">
                        <a:buNone/>
                      </a:pPr>
                      <a:r>
                        <a:rPr lang="en-US" sz="1250" b="1" dirty="0">
                          <a:solidFill>
                            <a:srgbClr val="0B3142"/>
                          </a:solidFill>
                          <a:latin typeface="Calibri" pitchFamily="34" charset="0"/>
                          <a:ea typeface="Calibri" pitchFamily="34" charset="-122"/>
                          <a:cs typeface="Calibri" pitchFamily="34" charset="-120"/>
                        </a:rPr>
                        <a:t>Recommendation</a:t>
                      </a:r>
                      <a:endParaRPr lang="en-US" sz="1250" dirty="0">
                        <a:latin typeface="Calibri" charset="0"/>
                        <a:ea typeface="Calibri" charset="0"/>
                        <a:cs typeface="Calibri" charset="0"/>
                      </a:endParaRPr>
                    </a:p>
                  </a:txBody>
                  <a:tcPr marL="91440" marR="91440" marT="45720" marB="4572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BEAEA"/>
                    </a:solidFill>
                  </a:tcPr>
                </a:tc>
                <a:tc>
                  <a:txBody>
                    <a:bodyPr/>
                    <a:lstStyle/>
                    <a:p>
                      <a:pPr indent="0" marL="0">
                        <a:buNone/>
                      </a:pPr>
                      <a:r>
                        <a:rPr lang="en-US" sz="1250" b="1" dirty="0">
                          <a:solidFill>
                            <a:srgbClr val="C1121F"/>
                          </a:solidFill>
                          <a:latin typeface="Calibri" pitchFamily="34" charset="0"/>
                          <a:ea typeface="Calibri" pitchFamily="34" charset="-122"/>
                          <a:cs typeface="Calibri" pitchFamily="34" charset="-120"/>
                        </a:rPr>
                        <a:t>Never</a:t>
                      </a:r>
                      <a:endParaRPr lang="en-US" sz="1250" dirty="0">
                        <a:latin typeface="Calibri" charset="0"/>
                        <a:ea typeface="Calibri" charset="0"/>
                        <a:cs typeface="Calibri" charset="0"/>
                      </a:endParaRPr>
                    </a:p>
                  </a:txBody>
                  <a:tcPr marL="91440" marR="91440" marT="45720" marB="4572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BEAE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build_recommendations() if-table</a:t>
                      </a:r>
                      <a:endParaRPr lang="en-US" sz="1200" dirty="0">
                        <a:latin typeface="Calibri" charset="0"/>
                        <a:ea typeface="Calibri" charset="0"/>
                        <a:cs typeface="Calibri" charset="0"/>
                      </a:endParaRPr>
                    </a:p>
                    <a:p>
                      <a:pPr indent="0" marL="0">
                        <a:buNone/>
                      </a:pPr>
                      <a:r>
                        <a:rPr lang="en-US" sz="1200" dirty="0">
                          <a:solidFill>
                            <a:srgbClr val="1A1A1A"/>
                          </a:solidFill>
                          <a:latin typeface="Calibri" pitchFamily="34" charset="0"/>
                          <a:ea typeface="Calibri" pitchFamily="34" charset="-122"/>
                          <a:cs typeface="Calibri" pitchFamily="34" charset="-120"/>
                        </a:rPr>
                        <a:t>+ openFDA cache</a:t>
                      </a:r>
                      <a:endParaRPr lang="en-US" sz="1200" dirty="0">
                        <a:latin typeface="Calibri" charset="0"/>
                        <a:ea typeface="Calibri" charset="0"/>
                        <a:cs typeface="Calibri" charset="0"/>
                      </a:endParaRPr>
                    </a:p>
                  </a:txBody>
                  <a:tcPr marL="91440" marR="91440" marT="45720" marB="4572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FBEAEA"/>
                    </a:solidFill>
                  </a:tcPr>
                </a:tc>
              </a:tr>
              <a:tr h="914400">
                <a:tc>
                  <a:txBody>
                    <a:bodyPr/>
                    <a:lstStyle/>
                    <a:p>
                      <a:pPr indent="0" marL="0">
                        <a:buNone/>
                      </a:pPr>
                      <a:r>
                        <a:rPr lang="en-US" sz="1250" b="1" dirty="0">
                          <a:solidFill>
                            <a:srgbClr val="0B3142"/>
                          </a:solidFill>
                          <a:latin typeface="Calibri" pitchFamily="34" charset="0"/>
                          <a:ea typeface="Calibri" pitchFamily="34" charset="-122"/>
                          <a:cs typeface="Calibri" pitchFamily="34" charset="-120"/>
                        </a:rPr>
                        <a:t>RAG</a:t>
                      </a:r>
                      <a:endParaRPr lang="en-US" sz="1250" dirty="0">
                        <a:latin typeface="Calibri" charset="0"/>
                        <a:ea typeface="Calibri" charset="0"/>
                        <a:cs typeface="Calibri" charset="0"/>
                      </a:endParaRPr>
                    </a:p>
                  </a:txBody>
                  <a:tcPr marL="91440" marR="91440" marT="45720" marB="4572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EFF3F4"/>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Embeddings only</a:t>
                      </a:r>
                      <a:endParaRPr lang="en-US" sz="1250" dirty="0">
                        <a:latin typeface="Calibri" charset="0"/>
                        <a:ea typeface="Calibri" charset="0"/>
                        <a:cs typeface="Calibri" charset="0"/>
                      </a:endParaRPr>
                    </a:p>
                    <a:p>
                      <a:pPr indent="0" marL="0">
                        <a:buNone/>
                      </a:pPr>
                      <a:r>
                        <a:rPr lang="en-US" sz="1250" dirty="0">
                          <a:solidFill>
                            <a:srgbClr val="1A1A1A"/>
                          </a:solidFill>
                          <a:latin typeface="Calibri" pitchFamily="34" charset="0"/>
                          <a:ea typeface="Calibri" pitchFamily="34" charset="-122"/>
                          <a:cs typeface="Calibri" pitchFamily="34" charset="-120"/>
                        </a:rPr>
                        <a:t>with OpenAI</a:t>
                      </a:r>
                      <a:endParaRPr lang="en-US" sz="1250" dirty="0">
                        <a:latin typeface="Calibri" charset="0"/>
                        <a:ea typeface="Calibri" charset="0"/>
                        <a:cs typeface="Calibri" charset="0"/>
                      </a:endParaRPr>
                    </a:p>
                  </a:txBody>
                  <a:tcPr marL="91440" marR="91440" marT="45720" marB="4572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EFF3F4"/>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Lexical always runs; PubMed is optional</a:t>
                      </a:r>
                      <a:endParaRPr lang="en-US" sz="1200" dirty="0">
                        <a:latin typeface="Calibri" charset="0"/>
                        <a:ea typeface="Calibri" charset="0"/>
                        <a:cs typeface="Calibri" charset="0"/>
                      </a:endParaRPr>
                    </a:p>
                    <a:p>
                      <a:pPr indent="0" marL="0">
                        <a:buNone/>
                      </a:pPr>
                      <a:r>
                        <a:rPr lang="en-US" sz="1200" dirty="0">
                          <a:solidFill>
                            <a:srgbClr val="1A1A1A"/>
                          </a:solidFill>
                          <a:latin typeface="Calibri" pitchFamily="34" charset="0"/>
                          <a:ea typeface="Calibri" pitchFamily="34" charset="-122"/>
                          <a:cs typeface="Calibri" pitchFamily="34" charset="-120"/>
                        </a:rPr>
                        <a:t>and not rendered in the workspace</a:t>
                      </a:r>
                      <a:endParaRPr lang="en-US" sz="1200" dirty="0">
                        <a:latin typeface="Calibri" charset="0"/>
                        <a:ea typeface="Calibri" charset="0"/>
                        <a:cs typeface="Calibri" charset="0"/>
                      </a:endParaRPr>
                    </a:p>
                  </a:txBody>
                  <a:tcPr marL="91440" marR="91440" marT="45720" marB="45720" anchor="ctr">
                    <a:lnL w="9525" cap="flat" cmpd="sng" algn="ctr">
                      <a:solidFill>
                        <a:srgbClr val="D8E0E4"/>
                      </a:solidFill>
                      <a:prstDash val="solid"/>
                      <a:round/>
                      <a:headEnd type="none" w="med" len="med"/>
                      <a:tailEnd type="none" w="med" len="med"/>
                    </a:lnL>
                    <a:lnR w="9525" cap="flat" cmpd="sng" algn="ctr">
                      <a:solidFill>
                        <a:srgbClr val="D8E0E4"/>
                      </a:solidFill>
                      <a:prstDash val="solid"/>
                      <a:round/>
                      <a:headEnd type="none" w="med" len="med"/>
                      <a:tailEnd type="none" w="med" len="med"/>
                    </a:lnR>
                    <a:lnT w="9525" cap="flat" cmpd="sng" algn="ctr">
                      <a:solidFill>
                        <a:srgbClr val="D8E0E4"/>
                      </a:solidFill>
                      <a:prstDash val="solid"/>
                      <a:round/>
                      <a:headEnd type="none" w="med" len="med"/>
                      <a:tailEnd type="none" w="med" len="med"/>
                    </a:lnT>
                    <a:lnB w="9525" cap="flat" cmpd="sng" algn="ctr">
                      <a:solidFill>
                        <a:srgbClr val="D8E0E4"/>
                      </a:solidFill>
                      <a:prstDash val="solid"/>
                      <a:round/>
                      <a:headEnd type="none" w="med" len="med"/>
                      <a:tailEnd type="none" w="med" len="med"/>
                    </a:lnB>
                    <a:solidFill>
                      <a:srgbClr val="EFF3F4"/>
                    </a:solidFill>
                  </a:tcPr>
                </a:tc>
              </a:tr>
            </a:tbl>
          </a:graphicData>
        </a:graphic>
      </p:graphicFrame>
      <p:sp>
        <p:nvSpPr>
          <p:cNvPr id="5" name="Text 2"/>
          <p:cNvSpPr/>
          <p:nvPr/>
        </p:nvSpPr>
        <p:spPr>
          <a:xfrm>
            <a:off x="548640" y="5989320"/>
            <a:ext cx="11064240" cy="548640"/>
          </a:xfrm>
          <a:prstGeom prst="rect">
            <a:avLst/>
          </a:prstGeom>
          <a:noFill/>
          <a:ln/>
        </p:spPr>
        <p:txBody>
          <a:bodyPr wrap="square" rtlCol="0" anchor="ctr"/>
          <a:lstStyle/>
          <a:p>
            <a:pPr indent="0" marL="0">
              <a:buNone/>
            </a:pPr>
            <a:r>
              <a:rPr lang="en-US" sz="1050" i="1" dirty="0">
                <a:solidFill>
                  <a:srgbClr val="5B6B76"/>
                </a:solidFill>
                <a:latin typeface="Calibri" pitchFamily="34" charset="0"/>
                <a:ea typeface="Calibri" pitchFamily="34" charset="-122"/>
                <a:cs typeface="Calibri" pitchFamily="34" charset="-120"/>
              </a:rPr>
              <a:t>Team CONTRACTS.md still describes extract/patient.py, extract/medical.py, summarize/recommend.py — those files aren't in the running product; the work was inlined into the agent modules.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3142"/>
        </a:solidFill>
      </p:bgPr>
    </p:bg>
    <p:spTree>
      <p:nvGrpSpPr>
        <p:cNvPr id="1" name=""/>
        <p:cNvGrpSpPr/>
        <p:nvPr/>
      </p:nvGrpSpPr>
      <p:grpSpPr>
        <a:xfrm>
          <a:off x="0" y="0"/>
          <a:ext cx="0" cy="0"/>
          <a:chOff x="0" y="0"/>
          <a:chExt cx="0" cy="0"/>
        </a:xfrm>
      </p:grpSpPr>
      <p:sp>
        <p:nvSpPr>
          <p:cNvPr id="2" name="Text 0"/>
          <p:cNvSpPr/>
          <p:nvPr/>
        </p:nvSpPr>
        <p:spPr>
          <a:xfrm>
            <a:off x="914400" y="2286000"/>
            <a:ext cx="10360152" cy="914400"/>
          </a:xfrm>
          <a:prstGeom prst="rect">
            <a:avLst/>
          </a:prstGeom>
          <a:noFill/>
          <a:ln/>
        </p:spPr>
        <p:txBody>
          <a:bodyPr wrap="square"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Production Gaps</a:t>
            </a:r>
            <a:endParaRPr lang="en-US" sz="4200" dirty="0"/>
          </a:p>
        </p:txBody>
      </p:sp>
      <p:sp>
        <p:nvSpPr>
          <p:cNvPr id="3" name="Text 1"/>
          <p:cNvSpPr/>
          <p:nvPr/>
        </p:nvSpPr>
        <p:spPr>
          <a:xfrm>
            <a:off x="914400" y="3246120"/>
            <a:ext cx="10360152" cy="457200"/>
          </a:xfrm>
          <a:prstGeom prst="rect">
            <a:avLst/>
          </a:prstGeom>
          <a:noFill/>
          <a:ln/>
        </p:spPr>
        <p:txBody>
          <a:bodyPr wrap="square" rtlCol="0" anchor="ctr"/>
          <a:lstStyle/>
          <a:p>
            <a:pPr algn="ctr" indent="0" marL="0">
              <a:buNone/>
            </a:pPr>
            <a:r>
              <a:rPr lang="en-US" sz="1500" i="1" dirty="0">
                <a:solidFill>
                  <a:srgbClr val="6FD8C7"/>
                </a:solidFill>
                <a:latin typeface="Calibri" pitchFamily="34" charset="0"/>
                <a:ea typeface="Calibri" pitchFamily="34" charset="-122"/>
                <a:cs typeface="Calibri" pitchFamily="34" charset="-120"/>
              </a:rPr>
              <a:t>Severity-ranked — what has to close before this touches a real patient record.</a:t>
            </a:r>
            <a:endParaRPr lang="en-US" sz="1500" dirty="0"/>
          </a:p>
        </p:txBody>
      </p:sp>
      <p:sp>
        <p:nvSpPr>
          <p:cNvPr id="4" name="Shape 2"/>
          <p:cNvSpPr/>
          <p:nvPr/>
        </p:nvSpPr>
        <p:spPr>
          <a:xfrm>
            <a:off x="243688" y="4297680"/>
            <a:ext cx="777240" cy="411480"/>
          </a:xfrm>
          <a:prstGeom prst="roundRect">
            <a:avLst>
              <a:gd name="adj" fmla="val 13333"/>
            </a:avLst>
          </a:prstGeom>
          <a:solidFill>
            <a:srgbClr val="C1121F"/>
          </a:solidFill>
          <a:ln/>
        </p:spPr>
      </p:sp>
      <p:sp>
        <p:nvSpPr>
          <p:cNvPr id="5" name="Text 3"/>
          <p:cNvSpPr/>
          <p:nvPr/>
        </p:nvSpPr>
        <p:spPr>
          <a:xfrm>
            <a:off x="243688" y="4297680"/>
            <a:ext cx="777240" cy="4114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P0</a:t>
            </a:r>
            <a:endParaRPr lang="en-US" sz="1500" dirty="0"/>
          </a:p>
        </p:txBody>
      </p:sp>
      <p:sp>
        <p:nvSpPr>
          <p:cNvPr id="6" name="Text 4"/>
          <p:cNvSpPr/>
          <p:nvPr/>
        </p:nvSpPr>
        <p:spPr>
          <a:xfrm>
            <a:off x="1158088" y="4297680"/>
            <a:ext cx="2743200" cy="41148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Do not deploy as-is</a:t>
            </a:r>
            <a:endParaRPr lang="en-US" sz="1250" dirty="0"/>
          </a:p>
        </p:txBody>
      </p:sp>
      <p:sp>
        <p:nvSpPr>
          <p:cNvPr id="7" name="Shape 5"/>
          <p:cNvSpPr/>
          <p:nvPr/>
        </p:nvSpPr>
        <p:spPr>
          <a:xfrm>
            <a:off x="4267048" y="4297680"/>
            <a:ext cx="777240" cy="411480"/>
          </a:xfrm>
          <a:prstGeom prst="roundRect">
            <a:avLst>
              <a:gd name="adj" fmla="val 13333"/>
            </a:avLst>
          </a:prstGeom>
          <a:solidFill>
            <a:srgbClr val="D98E04"/>
          </a:solidFill>
          <a:ln/>
        </p:spPr>
      </p:sp>
      <p:sp>
        <p:nvSpPr>
          <p:cNvPr id="8" name="Text 6"/>
          <p:cNvSpPr/>
          <p:nvPr/>
        </p:nvSpPr>
        <p:spPr>
          <a:xfrm>
            <a:off x="4267048" y="4297680"/>
            <a:ext cx="777240" cy="4114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P1</a:t>
            </a:r>
            <a:endParaRPr lang="en-US" sz="1500" dirty="0"/>
          </a:p>
        </p:txBody>
      </p:sp>
      <p:sp>
        <p:nvSpPr>
          <p:cNvPr id="9" name="Text 7"/>
          <p:cNvSpPr/>
          <p:nvPr/>
        </p:nvSpPr>
        <p:spPr>
          <a:xfrm>
            <a:off x="5181448" y="4297680"/>
            <a:ext cx="2743200" cy="41148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Before a serious pilot</a:t>
            </a:r>
            <a:endParaRPr lang="en-US" sz="1250" dirty="0"/>
          </a:p>
        </p:txBody>
      </p:sp>
      <p:sp>
        <p:nvSpPr>
          <p:cNvPr id="10" name="Shape 8"/>
          <p:cNvSpPr/>
          <p:nvPr/>
        </p:nvSpPr>
        <p:spPr>
          <a:xfrm>
            <a:off x="8290408" y="4297680"/>
            <a:ext cx="777240" cy="411480"/>
          </a:xfrm>
          <a:prstGeom prst="roundRect">
            <a:avLst>
              <a:gd name="adj" fmla="val 13333"/>
            </a:avLst>
          </a:prstGeom>
          <a:solidFill>
            <a:srgbClr val="1F7A5C"/>
          </a:solidFill>
          <a:ln/>
        </p:spPr>
      </p:sp>
      <p:sp>
        <p:nvSpPr>
          <p:cNvPr id="11" name="Text 9"/>
          <p:cNvSpPr/>
          <p:nvPr/>
        </p:nvSpPr>
        <p:spPr>
          <a:xfrm>
            <a:off x="8290408" y="4297680"/>
            <a:ext cx="777240" cy="41148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P2</a:t>
            </a:r>
            <a:endParaRPr lang="en-US" sz="1500" dirty="0"/>
          </a:p>
        </p:txBody>
      </p:sp>
      <p:sp>
        <p:nvSpPr>
          <p:cNvPr id="12" name="Text 10"/>
          <p:cNvSpPr/>
          <p:nvPr/>
        </p:nvSpPr>
        <p:spPr>
          <a:xfrm>
            <a:off x="9204808" y="4297680"/>
            <a:ext cx="2743200" cy="41148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Scale &amp; hygiene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822960" cy="502920"/>
          </a:xfrm>
          <a:prstGeom prst="roundRect">
            <a:avLst>
              <a:gd name="adj" fmla="val 10909"/>
            </a:avLst>
          </a:prstGeom>
          <a:solidFill>
            <a:srgbClr val="C1121F"/>
          </a:solidFill>
          <a:ln/>
        </p:spPr>
      </p:sp>
      <p:sp>
        <p:nvSpPr>
          <p:cNvPr id="3" name="Text 1"/>
          <p:cNvSpPr/>
          <p:nvPr/>
        </p:nvSpPr>
        <p:spPr>
          <a:xfrm>
            <a:off x="548640" y="365760"/>
            <a:ext cx="82296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P0</a:t>
            </a:r>
            <a:endParaRPr lang="en-US" sz="1800" dirty="0"/>
          </a:p>
        </p:txBody>
      </p:sp>
      <p:sp>
        <p:nvSpPr>
          <p:cNvPr id="4" name="Text 2"/>
          <p:cNvSpPr/>
          <p:nvPr/>
        </p:nvSpPr>
        <p:spPr>
          <a:xfrm>
            <a:off x="1508760" y="365760"/>
            <a:ext cx="9601200" cy="502920"/>
          </a:xfrm>
          <a:prstGeom prst="rect">
            <a:avLst/>
          </a:prstGeom>
          <a:noFill/>
          <a:ln/>
        </p:spPr>
        <p:txBody>
          <a:bodyPr wrap="square" rtlCol="0" anchor="ctr"/>
          <a:lstStyle/>
          <a:p>
            <a:pPr indent="0" marL="0">
              <a:buNone/>
            </a:pPr>
            <a:r>
              <a:rPr lang="en-US" sz="2600" b="1" dirty="0">
                <a:solidFill>
                  <a:srgbClr val="0B3142"/>
                </a:solidFill>
                <a:latin typeface="Cambria" pitchFamily="34" charset="0"/>
                <a:ea typeface="Cambria" pitchFamily="34" charset="-122"/>
                <a:cs typeface="Cambria" pitchFamily="34" charset="-120"/>
              </a:rPr>
              <a:t>Do not deploy as-is</a:t>
            </a:r>
            <a:endParaRPr lang="en-US" sz="2600" dirty="0"/>
          </a:p>
        </p:txBody>
      </p:sp>
      <p:sp>
        <p:nvSpPr>
          <p:cNvPr id="5" name="Shape 3"/>
          <p:cNvSpPr/>
          <p:nvPr/>
        </p:nvSpPr>
        <p:spPr>
          <a:xfrm>
            <a:off x="640080" y="1234440"/>
            <a:ext cx="502920" cy="502920"/>
          </a:xfrm>
          <a:prstGeom prst="ellipse">
            <a:avLst/>
          </a:prstGeom>
          <a:solidFill>
            <a:srgbClr val="C1121F"/>
          </a:solidFill>
          <a:ln/>
        </p:spPr>
      </p:sp>
      <p:sp>
        <p:nvSpPr>
          <p:cNvPr id="6" name="Text 4"/>
          <p:cNvSpPr/>
          <p:nvPr/>
        </p:nvSpPr>
        <p:spPr>
          <a:xfrm>
            <a:off x="640080" y="123444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17320" y="1188720"/>
            <a:ext cx="9966960" cy="365760"/>
          </a:xfrm>
          <a:prstGeom prst="rect">
            <a:avLst/>
          </a:prstGeom>
          <a:noFill/>
          <a:ln/>
        </p:spPr>
        <p:txBody>
          <a:bodyPr wrap="square" rtlCol="0" anchor="ctr"/>
          <a:lstStyle/>
          <a:p>
            <a:pPr indent="0" marL="0">
              <a:buNone/>
            </a:pPr>
            <a:r>
              <a:rPr lang="en-US" sz="1500" b="1" dirty="0">
                <a:solidFill>
                  <a:srgbClr val="0B3142"/>
                </a:solidFill>
                <a:latin typeface="Calibri" pitchFamily="34" charset="0"/>
                <a:ea typeface="Calibri" pitchFamily="34" charset="-122"/>
                <a:cs typeface="Calibri" pitchFamily="34" charset="-120"/>
              </a:rPr>
              <a:t>Durable checkpointer</a:t>
            </a:r>
            <a:endParaRPr lang="en-US" sz="1500" dirty="0"/>
          </a:p>
        </p:txBody>
      </p:sp>
      <p:sp>
        <p:nvSpPr>
          <p:cNvPr id="8" name="Text 6"/>
          <p:cNvSpPr/>
          <p:nvPr/>
        </p:nvSpPr>
        <p:spPr>
          <a:xfrm>
            <a:off x="1417320" y="1554480"/>
            <a:ext cx="9966960" cy="777240"/>
          </a:xfrm>
          <a:prstGeom prst="rect">
            <a:avLst/>
          </a:prstGeom>
          <a:noFill/>
          <a:ln/>
        </p:spPr>
        <p:txBody>
          <a:bodyPr wrap="square" rtlCol="0" anchor="t"/>
          <a:lstStyle/>
          <a:p>
            <a:pPr indent="0" marL="0">
              <a:buNone/>
            </a:pPr>
            <a:r>
              <a:rPr lang="en-US" sz="1200" dirty="0">
                <a:solidFill>
                  <a:srgbClr val="1A1A1A"/>
                </a:solidFill>
                <a:latin typeface="Calibri" pitchFamily="34" charset="0"/>
                <a:ea typeface="Calibri" pitchFamily="34" charset="-122"/>
                <a:cs typeface="Calibri" pitchFamily="34" charset="-120"/>
              </a:rPr>
              <a:t>MemorySaver + a single lru_cache graph means HITL is sticky to one process. Needs SQLite or Postgres.</a:t>
            </a:r>
            <a:endParaRPr lang="en-US" sz="1200" dirty="0"/>
          </a:p>
        </p:txBody>
      </p:sp>
      <p:sp>
        <p:nvSpPr>
          <p:cNvPr id="9" name="Shape 7"/>
          <p:cNvSpPr/>
          <p:nvPr/>
        </p:nvSpPr>
        <p:spPr>
          <a:xfrm>
            <a:off x="640080" y="2468880"/>
            <a:ext cx="502920" cy="502920"/>
          </a:xfrm>
          <a:prstGeom prst="ellipse">
            <a:avLst/>
          </a:prstGeom>
          <a:solidFill>
            <a:srgbClr val="C1121F"/>
          </a:solidFill>
          <a:ln/>
        </p:spPr>
      </p:sp>
      <p:sp>
        <p:nvSpPr>
          <p:cNvPr id="10" name="Text 8"/>
          <p:cNvSpPr/>
          <p:nvPr/>
        </p:nvSpPr>
        <p:spPr>
          <a:xfrm>
            <a:off x="640080" y="246888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417320" y="2423160"/>
            <a:ext cx="9966960" cy="365760"/>
          </a:xfrm>
          <a:prstGeom prst="rect">
            <a:avLst/>
          </a:prstGeom>
          <a:noFill/>
          <a:ln/>
        </p:spPr>
        <p:txBody>
          <a:bodyPr wrap="square" rtlCol="0" anchor="ctr"/>
          <a:lstStyle/>
          <a:p>
            <a:pPr indent="0" marL="0">
              <a:buNone/>
            </a:pPr>
            <a:r>
              <a:rPr lang="en-US" sz="1500" b="1" dirty="0">
                <a:solidFill>
                  <a:srgbClr val="0B3142"/>
                </a:solidFill>
                <a:latin typeface="Calibri" pitchFamily="34" charset="0"/>
                <a:ea typeface="Calibri" pitchFamily="34" charset="-122"/>
                <a:cs typeface="Calibri" pitchFamily="34" charset="-120"/>
              </a:rPr>
              <a:t>Frontend compose is broken</a:t>
            </a:r>
            <a:endParaRPr lang="en-US" sz="1500" dirty="0"/>
          </a:p>
        </p:txBody>
      </p:sp>
      <p:sp>
        <p:nvSpPr>
          <p:cNvPr id="12" name="Text 10"/>
          <p:cNvSpPr/>
          <p:nvPr/>
        </p:nvSpPr>
        <p:spPr>
          <a:xfrm>
            <a:off x="1417320" y="2788920"/>
            <a:ext cx="9966960" cy="777240"/>
          </a:xfrm>
          <a:prstGeom prst="rect">
            <a:avLst/>
          </a:prstGeom>
          <a:noFill/>
          <a:ln/>
        </p:spPr>
        <p:txBody>
          <a:bodyPr wrap="square" rtlCol="0" anchor="t"/>
          <a:lstStyle/>
          <a:p>
            <a:pPr indent="0" marL="0">
              <a:buNone/>
            </a:pPr>
            <a:r>
              <a:rPr lang="en-US" sz="1200" dirty="0">
                <a:solidFill>
                  <a:srgbClr val="1A1A1A"/>
                </a:solidFill>
                <a:latin typeface="Calibri" pitchFamily="34" charset="0"/>
                <a:ea typeface="Calibri" pitchFamily="34" charset="-122"/>
                <a:cs typeface="Calibri" pitchFamily="34" charset="-120"/>
              </a:rPr>
              <a:t>api.ts hardcodes /api; Docker Vite proxies to 127.0.0.1:8000 inside the frontend container; VITE_API_BASE is set and unused; the image runs npm run dev, not a static build.</a:t>
            </a:r>
            <a:endParaRPr lang="en-US" sz="1200" dirty="0"/>
          </a:p>
        </p:txBody>
      </p:sp>
      <p:sp>
        <p:nvSpPr>
          <p:cNvPr id="13" name="Shape 11"/>
          <p:cNvSpPr/>
          <p:nvPr/>
        </p:nvSpPr>
        <p:spPr>
          <a:xfrm>
            <a:off x="640080" y="3703320"/>
            <a:ext cx="502920" cy="502920"/>
          </a:xfrm>
          <a:prstGeom prst="ellipse">
            <a:avLst/>
          </a:prstGeom>
          <a:solidFill>
            <a:srgbClr val="C1121F"/>
          </a:solidFill>
          <a:ln/>
        </p:spPr>
      </p:sp>
      <p:sp>
        <p:nvSpPr>
          <p:cNvPr id="14" name="Text 12"/>
          <p:cNvSpPr/>
          <p:nvPr/>
        </p:nvSpPr>
        <p:spPr>
          <a:xfrm>
            <a:off x="640080" y="370332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417320" y="3657600"/>
            <a:ext cx="9966960" cy="365760"/>
          </a:xfrm>
          <a:prstGeom prst="rect">
            <a:avLst/>
          </a:prstGeom>
          <a:noFill/>
          <a:ln/>
        </p:spPr>
        <p:txBody>
          <a:bodyPr wrap="square" rtlCol="0" anchor="ctr"/>
          <a:lstStyle/>
          <a:p>
            <a:pPr indent="0" marL="0">
              <a:buNone/>
            </a:pPr>
            <a:r>
              <a:rPr lang="en-US" sz="1500" b="1" dirty="0">
                <a:solidFill>
                  <a:srgbClr val="0B3142"/>
                </a:solidFill>
                <a:latin typeface="Calibri" pitchFamily="34" charset="0"/>
                <a:ea typeface="Calibri" pitchFamily="34" charset="-122"/>
                <a:cs typeface="Calibri" pitchFamily="34" charset="-120"/>
              </a:rPr>
              <a:t>No auth, no reviewer identity, no limits</a:t>
            </a:r>
            <a:endParaRPr lang="en-US" sz="1500" dirty="0"/>
          </a:p>
        </p:txBody>
      </p:sp>
      <p:sp>
        <p:nvSpPr>
          <p:cNvPr id="16" name="Text 14"/>
          <p:cNvSpPr/>
          <p:nvPr/>
        </p:nvSpPr>
        <p:spPr>
          <a:xfrm>
            <a:off x="1417320" y="4023360"/>
            <a:ext cx="9966960" cy="777240"/>
          </a:xfrm>
          <a:prstGeom prst="rect">
            <a:avLst/>
          </a:prstGeom>
          <a:noFill/>
          <a:ln/>
        </p:spPr>
        <p:txBody>
          <a:bodyPr wrap="square" rtlCol="0" anchor="t"/>
          <a:lstStyle/>
          <a:p>
            <a:pPr indent="0" marL="0">
              <a:buNone/>
            </a:pPr>
            <a:r>
              <a:rPr lang="en-US" sz="1200" dirty="0">
                <a:solidFill>
                  <a:srgbClr val="1A1A1A"/>
                </a:solidFill>
                <a:latin typeface="Calibri" pitchFamily="34" charset="0"/>
                <a:ea typeface="Calibri" pitchFamily="34" charset="-122"/>
                <a:cs typeface="Calibri" pitchFamily="34" charset="-120"/>
              </a:rPr>
              <a:t>Anyone who can reach port 8000 can approve a draft. No upload size limits, no rate limits.</a:t>
            </a:r>
            <a:endParaRPr lang="en-US" sz="1200" dirty="0"/>
          </a:p>
        </p:txBody>
      </p:sp>
      <p:sp>
        <p:nvSpPr>
          <p:cNvPr id="17" name="Shape 15"/>
          <p:cNvSpPr/>
          <p:nvPr/>
        </p:nvSpPr>
        <p:spPr>
          <a:xfrm>
            <a:off x="640080" y="4937760"/>
            <a:ext cx="502920" cy="502920"/>
          </a:xfrm>
          <a:prstGeom prst="ellipse">
            <a:avLst/>
          </a:prstGeom>
          <a:solidFill>
            <a:srgbClr val="C1121F"/>
          </a:solidFill>
          <a:ln/>
        </p:spPr>
      </p:sp>
      <p:sp>
        <p:nvSpPr>
          <p:cNvPr id="18" name="Text 16"/>
          <p:cNvSpPr/>
          <p:nvPr/>
        </p:nvSpPr>
        <p:spPr>
          <a:xfrm>
            <a:off x="640080" y="493776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1417320" y="4892040"/>
            <a:ext cx="9966960" cy="365760"/>
          </a:xfrm>
          <a:prstGeom prst="rect">
            <a:avLst/>
          </a:prstGeom>
          <a:noFill/>
          <a:ln/>
        </p:spPr>
        <p:txBody>
          <a:bodyPr wrap="square" rtlCol="0" anchor="ctr"/>
          <a:lstStyle/>
          <a:p>
            <a:pPr indent="0" marL="0">
              <a:buNone/>
            </a:pPr>
            <a:r>
              <a:rPr lang="en-US" sz="1500" b="1" dirty="0">
                <a:solidFill>
                  <a:srgbClr val="0B3142"/>
                </a:solidFill>
                <a:latin typeface="Calibri" pitchFamily="34" charset="0"/>
                <a:ea typeface="Calibri" pitchFamily="34" charset="-122"/>
                <a:cs typeface="Calibri" pitchFamily="34" charset="-120"/>
              </a:rPr>
              <a:t>Live mode leaks PHI</a:t>
            </a:r>
            <a:endParaRPr lang="en-US" sz="1500" dirty="0"/>
          </a:p>
        </p:txBody>
      </p:sp>
      <p:sp>
        <p:nvSpPr>
          <p:cNvPr id="20" name="Text 18"/>
          <p:cNvSpPr/>
          <p:nvPr/>
        </p:nvSpPr>
        <p:spPr>
          <a:xfrm>
            <a:off x="1417320" y="5257800"/>
            <a:ext cx="9966960" cy="777240"/>
          </a:xfrm>
          <a:prstGeom prst="rect">
            <a:avLst/>
          </a:prstGeom>
          <a:noFill/>
          <a:ln/>
        </p:spPr>
        <p:txBody>
          <a:bodyPr wrap="square" rtlCol="0" anchor="t"/>
          <a:lstStyle/>
          <a:p>
            <a:pPr indent="0" marL="0">
              <a:buNone/>
            </a:pPr>
            <a:r>
              <a:rPr lang="en-US" sz="1200" dirty="0">
                <a:solidFill>
                  <a:srgbClr val="1A1A1A"/>
                </a:solidFill>
                <a:latin typeface="Calibri" pitchFamily="34" charset="0"/>
                <a:ea typeface="Calibri" pitchFamily="34" charset="-122"/>
                <a:cs typeface="Calibri" pitchFamily="34" charset="-120"/>
              </a:rPr>
              <a:t>Note text goes to third-party LLMs; full notes are stored as plain JSON on disk. No encryption, retention policy, or BAA story.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822960" cy="502920"/>
          </a:xfrm>
          <a:prstGeom prst="roundRect">
            <a:avLst>
              <a:gd name="adj" fmla="val 10909"/>
            </a:avLst>
          </a:prstGeom>
          <a:solidFill>
            <a:srgbClr val="D98E04"/>
          </a:solidFill>
          <a:ln/>
        </p:spPr>
      </p:sp>
      <p:sp>
        <p:nvSpPr>
          <p:cNvPr id="3" name="Text 1"/>
          <p:cNvSpPr/>
          <p:nvPr/>
        </p:nvSpPr>
        <p:spPr>
          <a:xfrm>
            <a:off x="548640" y="365760"/>
            <a:ext cx="82296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P1</a:t>
            </a:r>
            <a:endParaRPr lang="en-US" sz="1800" dirty="0"/>
          </a:p>
        </p:txBody>
      </p:sp>
      <p:sp>
        <p:nvSpPr>
          <p:cNvPr id="4" name="Text 2"/>
          <p:cNvSpPr/>
          <p:nvPr/>
        </p:nvSpPr>
        <p:spPr>
          <a:xfrm>
            <a:off x="1508760" y="365760"/>
            <a:ext cx="9601200" cy="502920"/>
          </a:xfrm>
          <a:prstGeom prst="rect">
            <a:avLst/>
          </a:prstGeom>
          <a:noFill/>
          <a:ln/>
        </p:spPr>
        <p:txBody>
          <a:bodyPr wrap="square" rtlCol="0" anchor="ctr"/>
          <a:lstStyle/>
          <a:p>
            <a:pPr indent="0" marL="0">
              <a:buNone/>
            </a:pPr>
            <a:r>
              <a:rPr lang="en-US" sz="2600" b="1" dirty="0">
                <a:solidFill>
                  <a:srgbClr val="0B3142"/>
                </a:solidFill>
                <a:latin typeface="Cambria" pitchFamily="34" charset="0"/>
                <a:ea typeface="Cambria" pitchFamily="34" charset="-122"/>
                <a:cs typeface="Cambria" pitchFamily="34" charset="-120"/>
              </a:rPr>
              <a:t>Before a serious pilot</a:t>
            </a:r>
            <a:endParaRPr lang="en-US" sz="2600" dirty="0"/>
          </a:p>
        </p:txBody>
      </p:sp>
      <p:sp>
        <p:nvSpPr>
          <p:cNvPr id="5" name="Shape 3"/>
          <p:cNvSpPr/>
          <p:nvPr/>
        </p:nvSpPr>
        <p:spPr>
          <a:xfrm>
            <a:off x="548640" y="1371600"/>
            <a:ext cx="5394960" cy="1371600"/>
          </a:xfrm>
          <a:prstGeom prst="roundRect">
            <a:avLst>
              <a:gd name="adj" fmla="val 3333"/>
            </a:avLst>
          </a:prstGeom>
          <a:solidFill>
            <a:srgbClr val="F7F9FA"/>
          </a:solidFill>
          <a:ln/>
        </p:spPr>
      </p:sp>
      <p:sp>
        <p:nvSpPr>
          <p:cNvPr id="6" name="Shape 4"/>
          <p:cNvSpPr/>
          <p:nvPr/>
        </p:nvSpPr>
        <p:spPr>
          <a:xfrm>
            <a:off x="731520" y="1554480"/>
            <a:ext cx="384048" cy="384048"/>
          </a:xfrm>
          <a:prstGeom prst="ellipse">
            <a:avLst/>
          </a:prstGeom>
          <a:solidFill>
            <a:srgbClr val="D98E04"/>
          </a:solidFill>
          <a:ln/>
        </p:spPr>
      </p:sp>
      <p:sp>
        <p:nvSpPr>
          <p:cNvPr id="7" name="Text 5"/>
          <p:cNvSpPr/>
          <p:nvPr/>
        </p:nvSpPr>
        <p:spPr>
          <a:xfrm>
            <a:off x="731520" y="1554480"/>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234440" y="1481328"/>
            <a:ext cx="4526280" cy="502920"/>
          </a:xfrm>
          <a:prstGeom prst="rect">
            <a:avLst/>
          </a:prstGeom>
          <a:noFill/>
          <a:ln/>
        </p:spPr>
        <p:txBody>
          <a:bodyPr wrap="square" rtlCol="0" anchor="t"/>
          <a:lstStyle/>
          <a:p>
            <a:pPr indent="0" marL="0">
              <a:buNone/>
            </a:pPr>
            <a:r>
              <a:rPr lang="en-US" sz="1350" b="1" dirty="0">
                <a:solidFill>
                  <a:srgbClr val="0B3142"/>
                </a:solidFill>
                <a:latin typeface="Calibri" pitchFamily="34" charset="0"/>
                <a:ea typeface="Calibri" pitchFamily="34" charset="-122"/>
                <a:cs typeface="Calibri" pitchFamily="34" charset="-120"/>
              </a:rPr>
              <a:t>Observability isn't wired</a:t>
            </a:r>
            <a:endParaRPr lang="en-US" sz="1350" dirty="0"/>
          </a:p>
        </p:txBody>
      </p:sp>
      <p:sp>
        <p:nvSpPr>
          <p:cNvPr id="9" name="Text 7"/>
          <p:cNvSpPr/>
          <p:nvPr/>
        </p:nvSpPr>
        <p:spPr>
          <a:xfrm>
            <a:off x="777240" y="1993392"/>
            <a:ext cx="4937760" cy="685800"/>
          </a:xfrm>
          <a:prstGeom prst="rect">
            <a:avLst/>
          </a:prstGeom>
          <a:noFill/>
          <a:ln/>
        </p:spPr>
        <p:txBody>
          <a:bodyPr wrap="square" rtlCol="0" anchor="t"/>
          <a:lstStyle/>
          <a:p>
            <a:pPr indent="0" marL="0">
              <a:buNone/>
            </a:pPr>
            <a:r>
              <a:rPr lang="en-US" sz="1080" dirty="0">
                <a:solidFill>
                  <a:srgbClr val="1A1A1A"/>
                </a:solidFill>
                <a:latin typeface="Calibri" pitchFamily="34" charset="0"/>
                <a:ea typeface="Calibri" pitchFamily="34" charset="-122"/>
                <a:cs typeface="Calibri" pitchFamily="34" charset="-120"/>
              </a:rPr>
              <a:t>Connect EventBus/JSONL to OpenTelemetry so latency numbers are real, not just run counts.</a:t>
            </a:r>
            <a:endParaRPr lang="en-US" sz="1080" dirty="0"/>
          </a:p>
        </p:txBody>
      </p:sp>
      <p:sp>
        <p:nvSpPr>
          <p:cNvPr id="10" name="Shape 8"/>
          <p:cNvSpPr/>
          <p:nvPr/>
        </p:nvSpPr>
        <p:spPr>
          <a:xfrm>
            <a:off x="6172200" y="1371600"/>
            <a:ext cx="5394960" cy="1371600"/>
          </a:xfrm>
          <a:prstGeom prst="roundRect">
            <a:avLst>
              <a:gd name="adj" fmla="val 3333"/>
            </a:avLst>
          </a:prstGeom>
          <a:solidFill>
            <a:srgbClr val="F7F9FA"/>
          </a:solidFill>
          <a:ln/>
        </p:spPr>
      </p:sp>
      <p:sp>
        <p:nvSpPr>
          <p:cNvPr id="11" name="Shape 9"/>
          <p:cNvSpPr/>
          <p:nvPr/>
        </p:nvSpPr>
        <p:spPr>
          <a:xfrm>
            <a:off x="6355080" y="1554480"/>
            <a:ext cx="384048" cy="384048"/>
          </a:xfrm>
          <a:prstGeom prst="ellipse">
            <a:avLst/>
          </a:prstGeom>
          <a:solidFill>
            <a:srgbClr val="D98E04"/>
          </a:solidFill>
          <a:ln/>
        </p:spPr>
      </p:sp>
      <p:sp>
        <p:nvSpPr>
          <p:cNvPr id="12" name="Text 10"/>
          <p:cNvSpPr/>
          <p:nvPr/>
        </p:nvSpPr>
        <p:spPr>
          <a:xfrm>
            <a:off x="6355080" y="1554480"/>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6858000" y="1481328"/>
            <a:ext cx="4526280" cy="502920"/>
          </a:xfrm>
          <a:prstGeom prst="rect">
            <a:avLst/>
          </a:prstGeom>
          <a:noFill/>
          <a:ln/>
        </p:spPr>
        <p:txBody>
          <a:bodyPr wrap="square" rtlCol="0" anchor="t"/>
          <a:lstStyle/>
          <a:p>
            <a:pPr indent="0" marL="0">
              <a:buNone/>
            </a:pPr>
            <a:r>
              <a:rPr lang="en-US" sz="1350" b="1" dirty="0">
                <a:solidFill>
                  <a:srgbClr val="0B3142"/>
                </a:solidFill>
                <a:latin typeface="Calibri" pitchFamily="34" charset="0"/>
                <a:ea typeface="Calibri" pitchFamily="34" charset="-122"/>
                <a:cs typeface="Calibri" pitchFamily="34" charset="-120"/>
              </a:rPr>
              <a:t>Daemon threads aren't a job queue</a:t>
            </a:r>
            <a:endParaRPr lang="en-US" sz="1350" dirty="0"/>
          </a:p>
        </p:txBody>
      </p:sp>
      <p:sp>
        <p:nvSpPr>
          <p:cNvPr id="14" name="Text 12"/>
          <p:cNvSpPr/>
          <p:nvPr/>
        </p:nvSpPr>
        <p:spPr>
          <a:xfrm>
            <a:off x="6400800" y="1993392"/>
            <a:ext cx="4937760" cy="685800"/>
          </a:xfrm>
          <a:prstGeom prst="rect">
            <a:avLst/>
          </a:prstGeom>
          <a:noFill/>
          <a:ln/>
        </p:spPr>
        <p:txBody>
          <a:bodyPr wrap="square" rtlCol="0" anchor="t"/>
          <a:lstStyle/>
          <a:p>
            <a:pPr indent="0" marL="0">
              <a:buNone/>
            </a:pPr>
            <a:r>
              <a:rPr lang="en-US" sz="1080" dirty="0">
                <a:solidFill>
                  <a:srgbClr val="1A1A1A"/>
                </a:solidFill>
                <a:latin typeface="Calibri" pitchFamily="34" charset="0"/>
                <a:ea typeface="Calibri" pitchFamily="34" charset="-122"/>
                <a:cs typeface="Calibri" pitchFamily="34" charset="-120"/>
              </a:rPr>
              <a:t>Move to a real queue with cancellation and timeouts.</a:t>
            </a:r>
            <a:endParaRPr lang="en-US" sz="1080" dirty="0"/>
          </a:p>
        </p:txBody>
      </p:sp>
      <p:sp>
        <p:nvSpPr>
          <p:cNvPr id="15" name="Shape 13"/>
          <p:cNvSpPr/>
          <p:nvPr/>
        </p:nvSpPr>
        <p:spPr>
          <a:xfrm>
            <a:off x="548640" y="2971800"/>
            <a:ext cx="5394960" cy="1371600"/>
          </a:xfrm>
          <a:prstGeom prst="roundRect">
            <a:avLst>
              <a:gd name="adj" fmla="val 3333"/>
            </a:avLst>
          </a:prstGeom>
          <a:solidFill>
            <a:srgbClr val="F7F9FA"/>
          </a:solidFill>
          <a:ln/>
        </p:spPr>
      </p:sp>
      <p:sp>
        <p:nvSpPr>
          <p:cNvPr id="16" name="Shape 14"/>
          <p:cNvSpPr/>
          <p:nvPr/>
        </p:nvSpPr>
        <p:spPr>
          <a:xfrm>
            <a:off x="731520" y="3154680"/>
            <a:ext cx="384048" cy="384048"/>
          </a:xfrm>
          <a:prstGeom prst="ellipse">
            <a:avLst/>
          </a:prstGeom>
          <a:solidFill>
            <a:srgbClr val="D98E04"/>
          </a:solidFill>
          <a:ln/>
        </p:spPr>
      </p:sp>
      <p:sp>
        <p:nvSpPr>
          <p:cNvPr id="17" name="Text 15"/>
          <p:cNvSpPr/>
          <p:nvPr/>
        </p:nvSpPr>
        <p:spPr>
          <a:xfrm>
            <a:off x="731520" y="3154680"/>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234440" y="3081528"/>
            <a:ext cx="4526280" cy="502920"/>
          </a:xfrm>
          <a:prstGeom prst="rect">
            <a:avLst/>
          </a:prstGeom>
          <a:noFill/>
          <a:ln/>
        </p:spPr>
        <p:txBody>
          <a:bodyPr wrap="square" rtlCol="0" anchor="t"/>
          <a:lstStyle/>
          <a:p>
            <a:pPr indent="0" marL="0">
              <a:buNone/>
            </a:pPr>
            <a:r>
              <a:rPr lang="en-US" sz="1350" b="1" dirty="0">
                <a:solidFill>
                  <a:srgbClr val="0B3142"/>
                </a:solidFill>
                <a:latin typeface="Calibri" pitchFamily="34" charset="0"/>
                <a:ea typeface="Calibri" pitchFamily="34" charset="-122"/>
                <a:cs typeface="Calibri" pitchFamily="34" charset="-120"/>
              </a:rPr>
              <a:t>Recommendations aren't grounded</a:t>
            </a:r>
            <a:endParaRPr lang="en-US" sz="1350" dirty="0"/>
          </a:p>
        </p:txBody>
      </p:sp>
      <p:sp>
        <p:nvSpPr>
          <p:cNvPr id="19" name="Text 17"/>
          <p:cNvSpPr/>
          <p:nvPr/>
        </p:nvSpPr>
        <p:spPr>
          <a:xfrm>
            <a:off x="777240" y="3593592"/>
            <a:ext cx="4937760" cy="685800"/>
          </a:xfrm>
          <a:prstGeom prst="rect">
            <a:avLst/>
          </a:prstGeom>
          <a:noFill/>
          <a:ln/>
        </p:spPr>
        <p:txBody>
          <a:bodyPr wrap="square" rtlCol="0" anchor="t"/>
          <a:lstStyle/>
          <a:p>
            <a:pPr indent="0" marL="0">
              <a:buNone/>
            </a:pPr>
            <a:r>
              <a:rPr lang="en-US" sz="1080" dirty="0">
                <a:solidFill>
                  <a:srgbClr val="1A1A1A"/>
                </a:solidFill>
                <a:latin typeface="Calibri" pitchFamily="34" charset="0"/>
                <a:ea typeface="Calibri" pitchFamily="34" charset="-122"/>
                <a:cs typeface="Calibri" pitchFamily="34" charset="-120"/>
              </a:rPr>
              <a:t>Force citations to retrieved chunk IDs instead of a fixed if-table.</a:t>
            </a:r>
            <a:endParaRPr lang="en-US" sz="1080" dirty="0"/>
          </a:p>
        </p:txBody>
      </p:sp>
      <p:sp>
        <p:nvSpPr>
          <p:cNvPr id="20" name="Shape 18"/>
          <p:cNvSpPr/>
          <p:nvPr/>
        </p:nvSpPr>
        <p:spPr>
          <a:xfrm>
            <a:off x="6172200" y="2971800"/>
            <a:ext cx="5394960" cy="1371600"/>
          </a:xfrm>
          <a:prstGeom prst="roundRect">
            <a:avLst>
              <a:gd name="adj" fmla="val 3333"/>
            </a:avLst>
          </a:prstGeom>
          <a:solidFill>
            <a:srgbClr val="F7F9FA"/>
          </a:solidFill>
          <a:ln/>
        </p:spPr>
      </p:sp>
      <p:sp>
        <p:nvSpPr>
          <p:cNvPr id="21" name="Shape 19"/>
          <p:cNvSpPr/>
          <p:nvPr/>
        </p:nvSpPr>
        <p:spPr>
          <a:xfrm>
            <a:off x="6355080" y="3154680"/>
            <a:ext cx="384048" cy="384048"/>
          </a:xfrm>
          <a:prstGeom prst="ellipse">
            <a:avLst/>
          </a:prstGeom>
          <a:solidFill>
            <a:srgbClr val="D98E04"/>
          </a:solidFill>
          <a:ln/>
        </p:spPr>
      </p:sp>
      <p:sp>
        <p:nvSpPr>
          <p:cNvPr id="22" name="Text 20"/>
          <p:cNvSpPr/>
          <p:nvPr/>
        </p:nvSpPr>
        <p:spPr>
          <a:xfrm>
            <a:off x="6355080" y="3154680"/>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6858000" y="3081528"/>
            <a:ext cx="4526280" cy="502920"/>
          </a:xfrm>
          <a:prstGeom prst="rect">
            <a:avLst/>
          </a:prstGeom>
          <a:noFill/>
          <a:ln/>
        </p:spPr>
        <p:txBody>
          <a:bodyPr wrap="square" rtlCol="0" anchor="t"/>
          <a:lstStyle/>
          <a:p>
            <a:pPr indent="0" marL="0">
              <a:buNone/>
            </a:pPr>
            <a:r>
              <a:rPr lang="en-US" sz="1350" b="1" dirty="0">
                <a:solidFill>
                  <a:srgbClr val="0B3142"/>
                </a:solidFill>
                <a:latin typeface="Calibri" pitchFamily="34" charset="0"/>
                <a:ea typeface="Calibri" pitchFamily="34" charset="-122"/>
                <a:cs typeface="Calibri" pitchFamily="34" charset="-120"/>
              </a:rPr>
              <a:t>No OCR, no licensed guidelines</a:t>
            </a:r>
            <a:endParaRPr lang="en-US" sz="1350" dirty="0"/>
          </a:p>
        </p:txBody>
      </p:sp>
      <p:sp>
        <p:nvSpPr>
          <p:cNvPr id="24" name="Text 22"/>
          <p:cNvSpPr/>
          <p:nvPr/>
        </p:nvSpPr>
        <p:spPr>
          <a:xfrm>
            <a:off x="6400800" y="3593592"/>
            <a:ext cx="4937760" cy="685800"/>
          </a:xfrm>
          <a:prstGeom prst="rect">
            <a:avLst/>
          </a:prstGeom>
          <a:noFill/>
          <a:ln/>
        </p:spPr>
        <p:txBody>
          <a:bodyPr wrap="square" rtlCol="0" anchor="t"/>
          <a:lstStyle/>
          <a:p>
            <a:pPr indent="0" marL="0">
              <a:buNone/>
            </a:pPr>
            <a:r>
              <a:rPr lang="en-US" sz="1080" dirty="0">
                <a:solidFill>
                  <a:srgbClr val="1A1A1A"/>
                </a:solidFill>
                <a:latin typeface="Calibri" pitchFamily="34" charset="0"/>
                <a:ea typeface="Calibri" pitchFamily="34" charset="-122"/>
                <a:cs typeface="Calibri" pitchFamily="34" charset="-120"/>
              </a:rPr>
              <a:t>Scanned notes fail silently; the RAG corpus is teaching cards, not licensed clinical guidelines.</a:t>
            </a:r>
            <a:endParaRPr lang="en-US" sz="1080" dirty="0"/>
          </a:p>
        </p:txBody>
      </p:sp>
      <p:sp>
        <p:nvSpPr>
          <p:cNvPr id="25" name="Shape 23"/>
          <p:cNvSpPr/>
          <p:nvPr/>
        </p:nvSpPr>
        <p:spPr>
          <a:xfrm>
            <a:off x="548640" y="4572000"/>
            <a:ext cx="5394960" cy="1371600"/>
          </a:xfrm>
          <a:prstGeom prst="roundRect">
            <a:avLst>
              <a:gd name="adj" fmla="val 3333"/>
            </a:avLst>
          </a:prstGeom>
          <a:solidFill>
            <a:srgbClr val="F7F9FA"/>
          </a:solidFill>
          <a:ln/>
        </p:spPr>
      </p:sp>
      <p:sp>
        <p:nvSpPr>
          <p:cNvPr id="26" name="Shape 24"/>
          <p:cNvSpPr/>
          <p:nvPr/>
        </p:nvSpPr>
        <p:spPr>
          <a:xfrm>
            <a:off x="731520" y="4754880"/>
            <a:ext cx="384048" cy="384048"/>
          </a:xfrm>
          <a:prstGeom prst="ellipse">
            <a:avLst/>
          </a:prstGeom>
          <a:solidFill>
            <a:srgbClr val="D98E04"/>
          </a:solidFill>
          <a:ln/>
        </p:spPr>
      </p:sp>
      <p:sp>
        <p:nvSpPr>
          <p:cNvPr id="27" name="Text 25"/>
          <p:cNvSpPr/>
          <p:nvPr/>
        </p:nvSpPr>
        <p:spPr>
          <a:xfrm>
            <a:off x="731520" y="4754880"/>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6"/>
          <p:cNvSpPr/>
          <p:nvPr/>
        </p:nvSpPr>
        <p:spPr>
          <a:xfrm>
            <a:off x="1234440" y="4681728"/>
            <a:ext cx="4526280" cy="502920"/>
          </a:xfrm>
          <a:prstGeom prst="rect">
            <a:avLst/>
          </a:prstGeom>
          <a:noFill/>
          <a:ln/>
        </p:spPr>
        <p:txBody>
          <a:bodyPr wrap="square" rtlCol="0" anchor="t"/>
          <a:lstStyle/>
          <a:p>
            <a:pPr indent="0" marL="0">
              <a:buNone/>
            </a:pPr>
            <a:r>
              <a:rPr lang="en-US" sz="1350" b="1" dirty="0">
                <a:solidFill>
                  <a:srgbClr val="0B3142"/>
                </a:solidFill>
                <a:latin typeface="Calibri" pitchFamily="34" charset="0"/>
                <a:ea typeface="Calibri" pitchFamily="34" charset="-122"/>
                <a:cs typeface="Calibri" pitchFamily="34" charset="-120"/>
              </a:rPr>
              <a:t>No CI, no evals</a:t>
            </a:r>
            <a:endParaRPr lang="en-US" sz="1350" dirty="0"/>
          </a:p>
        </p:txBody>
      </p:sp>
      <p:sp>
        <p:nvSpPr>
          <p:cNvPr id="29" name="Text 27"/>
          <p:cNvSpPr/>
          <p:nvPr/>
        </p:nvSpPr>
        <p:spPr>
          <a:xfrm>
            <a:off x="777240" y="5193792"/>
            <a:ext cx="4937760" cy="685800"/>
          </a:xfrm>
          <a:prstGeom prst="rect">
            <a:avLst/>
          </a:prstGeom>
          <a:noFill/>
          <a:ln/>
        </p:spPr>
        <p:txBody>
          <a:bodyPr wrap="square" rtlCol="0" anchor="t"/>
          <a:lstStyle/>
          <a:p>
            <a:pPr indent="0" marL="0">
              <a:buNone/>
            </a:pPr>
            <a:r>
              <a:rPr lang="en-US" sz="1080" dirty="0">
                <a:solidFill>
                  <a:srgbClr val="1A1A1A"/>
                </a:solidFill>
                <a:latin typeface="Calibri" pitchFamily="34" charset="0"/>
                <a:ea typeface="Calibri" pitchFamily="34" charset="-122"/>
                <a:cs typeface="Calibri" pitchFamily="34" charset="-120"/>
              </a:rPr>
              <a:t>Add structured-output checks, golden evals, and live integration tests — there is no CI today.</a:t>
            </a:r>
            <a:endParaRPr lang="en-US" sz="1080" dirty="0"/>
          </a:p>
        </p:txBody>
      </p:sp>
      <p:sp>
        <p:nvSpPr>
          <p:cNvPr id="30" name="Shape 28"/>
          <p:cNvSpPr/>
          <p:nvPr/>
        </p:nvSpPr>
        <p:spPr>
          <a:xfrm>
            <a:off x="6172200" y="4572000"/>
            <a:ext cx="5394960" cy="1371600"/>
          </a:xfrm>
          <a:prstGeom prst="roundRect">
            <a:avLst>
              <a:gd name="adj" fmla="val 3333"/>
            </a:avLst>
          </a:prstGeom>
          <a:solidFill>
            <a:srgbClr val="F7F9FA"/>
          </a:solidFill>
          <a:ln/>
        </p:spPr>
      </p:sp>
      <p:sp>
        <p:nvSpPr>
          <p:cNvPr id="31" name="Shape 29"/>
          <p:cNvSpPr/>
          <p:nvPr/>
        </p:nvSpPr>
        <p:spPr>
          <a:xfrm>
            <a:off x="6355080" y="4754880"/>
            <a:ext cx="384048" cy="384048"/>
          </a:xfrm>
          <a:prstGeom prst="ellipse">
            <a:avLst/>
          </a:prstGeom>
          <a:solidFill>
            <a:srgbClr val="D98E04"/>
          </a:solidFill>
          <a:ln/>
        </p:spPr>
      </p:sp>
      <p:sp>
        <p:nvSpPr>
          <p:cNvPr id="32" name="Text 30"/>
          <p:cNvSpPr/>
          <p:nvPr/>
        </p:nvSpPr>
        <p:spPr>
          <a:xfrm>
            <a:off x="6355080" y="4754880"/>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3" name="Text 31"/>
          <p:cNvSpPr/>
          <p:nvPr/>
        </p:nvSpPr>
        <p:spPr>
          <a:xfrm>
            <a:off x="6858000" y="4681728"/>
            <a:ext cx="4526280" cy="502920"/>
          </a:xfrm>
          <a:prstGeom prst="rect">
            <a:avLst/>
          </a:prstGeom>
          <a:noFill/>
          <a:ln/>
        </p:spPr>
        <p:txBody>
          <a:bodyPr wrap="square" rtlCol="0" anchor="t"/>
          <a:lstStyle/>
          <a:p>
            <a:pPr indent="0" marL="0">
              <a:buNone/>
            </a:pPr>
            <a:r>
              <a:rPr lang="en-US" sz="1350" b="1" dirty="0">
                <a:solidFill>
                  <a:srgbClr val="0B3142"/>
                </a:solidFill>
                <a:latin typeface="Calibri" pitchFamily="34" charset="0"/>
                <a:ea typeface="Calibri" pitchFamily="34" charset="-122"/>
                <a:cs typeface="Calibri" pitchFamily="34" charset="-120"/>
              </a:rPr>
              <a:t>Urgency check runs too early</a:t>
            </a:r>
            <a:endParaRPr lang="en-US" sz="1350" dirty="0"/>
          </a:p>
        </p:txBody>
      </p:sp>
      <p:sp>
        <p:nvSpPr>
          <p:cNvPr id="34" name="Text 32"/>
          <p:cNvSpPr/>
          <p:nvPr/>
        </p:nvSpPr>
        <p:spPr>
          <a:xfrm>
            <a:off x="6400800" y="5193792"/>
            <a:ext cx="4937760" cy="685800"/>
          </a:xfrm>
          <a:prstGeom prst="rect">
            <a:avLst/>
          </a:prstGeom>
          <a:noFill/>
          <a:ln/>
        </p:spPr>
        <p:txBody>
          <a:bodyPr wrap="square" rtlCol="0" anchor="t"/>
          <a:lstStyle/>
          <a:p>
            <a:pPr indent="0" marL="0">
              <a:buNone/>
            </a:pPr>
            <a:r>
              <a:rPr lang="en-US" sz="1080" dirty="0">
                <a:solidFill>
                  <a:srgbClr val="1A1A1A"/>
                </a:solidFill>
                <a:latin typeface="Calibri" pitchFamily="34" charset="0"/>
                <a:ea typeface="Calibri" pitchFamily="34" charset="-122"/>
                <a:cs typeface="Calibri" pitchFamily="34" charset="-120"/>
              </a:rPr>
              <a:t>urgent_safety fires before labs, so it never sees lab_flags.</a:t>
            </a:r>
            <a:endParaRPr lang="en-US" sz="10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822960" cy="502920"/>
          </a:xfrm>
          <a:prstGeom prst="roundRect">
            <a:avLst>
              <a:gd name="adj" fmla="val 10909"/>
            </a:avLst>
          </a:prstGeom>
          <a:solidFill>
            <a:srgbClr val="1F7A5C"/>
          </a:solidFill>
          <a:ln/>
        </p:spPr>
      </p:sp>
      <p:sp>
        <p:nvSpPr>
          <p:cNvPr id="3" name="Text 1"/>
          <p:cNvSpPr/>
          <p:nvPr/>
        </p:nvSpPr>
        <p:spPr>
          <a:xfrm>
            <a:off x="548640" y="365760"/>
            <a:ext cx="82296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P2</a:t>
            </a:r>
            <a:endParaRPr lang="en-US" sz="1800" dirty="0"/>
          </a:p>
        </p:txBody>
      </p:sp>
      <p:sp>
        <p:nvSpPr>
          <p:cNvPr id="4" name="Text 2"/>
          <p:cNvSpPr/>
          <p:nvPr/>
        </p:nvSpPr>
        <p:spPr>
          <a:xfrm>
            <a:off x="1508760" y="365760"/>
            <a:ext cx="9601200" cy="502920"/>
          </a:xfrm>
          <a:prstGeom prst="rect">
            <a:avLst/>
          </a:prstGeom>
          <a:noFill/>
          <a:ln/>
        </p:spPr>
        <p:txBody>
          <a:bodyPr wrap="square" rtlCol="0" anchor="ctr"/>
          <a:lstStyle/>
          <a:p>
            <a:pPr indent="0" marL="0">
              <a:buNone/>
            </a:pPr>
            <a:r>
              <a:rPr lang="en-US" sz="2600" b="1" dirty="0">
                <a:solidFill>
                  <a:srgbClr val="0B3142"/>
                </a:solidFill>
                <a:latin typeface="Cambria" pitchFamily="34" charset="0"/>
                <a:ea typeface="Cambria" pitchFamily="34" charset="-122"/>
                <a:cs typeface="Cambria" pitchFamily="34" charset="-120"/>
              </a:rPr>
              <a:t>Scale &amp; hygiene</a:t>
            </a:r>
            <a:endParaRPr lang="en-US" sz="2600" dirty="0"/>
          </a:p>
        </p:txBody>
      </p:sp>
      <p:sp>
        <p:nvSpPr>
          <p:cNvPr id="5" name="Shape 3"/>
          <p:cNvSpPr/>
          <p:nvPr/>
        </p:nvSpPr>
        <p:spPr>
          <a:xfrm>
            <a:off x="548640" y="1600200"/>
            <a:ext cx="5394960" cy="1874520"/>
          </a:xfrm>
          <a:prstGeom prst="roundRect">
            <a:avLst>
              <a:gd name="adj" fmla="val 2439"/>
            </a:avLst>
          </a:prstGeom>
          <a:solidFill>
            <a:srgbClr val="F7F9FA"/>
          </a:solidFill>
          <a:ln/>
        </p:spPr>
      </p:sp>
      <p:sp>
        <p:nvSpPr>
          <p:cNvPr id="6" name="Shape 4"/>
          <p:cNvSpPr/>
          <p:nvPr/>
        </p:nvSpPr>
        <p:spPr>
          <a:xfrm>
            <a:off x="777240" y="1828800"/>
            <a:ext cx="457200" cy="457200"/>
          </a:xfrm>
          <a:prstGeom prst="ellipse">
            <a:avLst/>
          </a:prstGeom>
          <a:solidFill>
            <a:srgbClr val="1F7A5C"/>
          </a:solidFill>
          <a:ln/>
        </p:spPr>
      </p:sp>
      <p:sp>
        <p:nvSpPr>
          <p:cNvPr id="7" name="Text 5"/>
          <p:cNvSpPr/>
          <p:nvPr/>
        </p:nvSpPr>
        <p:spPr>
          <a:xfrm>
            <a:off x="777240" y="182880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417320" y="1764792"/>
            <a:ext cx="4297680" cy="594360"/>
          </a:xfrm>
          <a:prstGeom prst="rect">
            <a:avLst/>
          </a:prstGeom>
          <a:noFill/>
          <a:ln/>
        </p:spPr>
        <p:txBody>
          <a:bodyPr wrap="square" rtlCol="0" anchor="t"/>
          <a:lstStyle/>
          <a:p>
            <a:pPr indent="0" marL="0">
              <a:buNone/>
            </a:pPr>
            <a:r>
              <a:rPr lang="en-US" sz="1450" b="1" dirty="0">
                <a:solidFill>
                  <a:srgbClr val="0B3142"/>
                </a:solidFill>
                <a:latin typeface="Calibri" pitchFamily="34" charset="0"/>
                <a:ea typeface="Calibri" pitchFamily="34" charset="-122"/>
                <a:cs typeface="Calibri" pitchFamily="34" charset="-120"/>
              </a:rPr>
              <a:t>Chroma client isn't process-level</a:t>
            </a:r>
            <a:endParaRPr lang="en-US" sz="1450" dirty="0"/>
          </a:p>
        </p:txBody>
      </p:sp>
      <p:sp>
        <p:nvSpPr>
          <p:cNvPr id="9" name="Text 7"/>
          <p:cNvSpPr/>
          <p:nvPr/>
        </p:nvSpPr>
        <p:spPr>
          <a:xfrm>
            <a:off x="822960" y="2423160"/>
            <a:ext cx="4846320" cy="914400"/>
          </a:xfrm>
          <a:prstGeom prst="rect">
            <a:avLst/>
          </a:prstGeom>
          <a:noFill/>
          <a:ln/>
        </p:spPr>
        <p:txBody>
          <a:bodyPr wrap="square" rtlCol="0" anchor="t"/>
          <a:lstStyle/>
          <a:p>
            <a:pPr indent="0" marL="0">
              <a:buNone/>
            </a:pPr>
            <a:r>
              <a:rPr lang="en-US" sz="1150" dirty="0">
                <a:solidFill>
                  <a:srgbClr val="1A1A1A"/>
                </a:solidFill>
                <a:latin typeface="Calibri" pitchFamily="34" charset="0"/>
                <a:ea typeface="Calibri" pitchFamily="34" charset="-122"/>
                <a:cs typeface="Calibri" pitchFamily="34" charset="-120"/>
              </a:rPr>
              <a:t>Pre-warm data/chroma once per process instead of on an ad hoc basis.</a:t>
            </a:r>
            <a:endParaRPr lang="en-US" sz="1150" dirty="0"/>
          </a:p>
        </p:txBody>
      </p:sp>
      <p:sp>
        <p:nvSpPr>
          <p:cNvPr id="10" name="Shape 8"/>
          <p:cNvSpPr/>
          <p:nvPr/>
        </p:nvSpPr>
        <p:spPr>
          <a:xfrm>
            <a:off x="6172200" y="1600200"/>
            <a:ext cx="5394960" cy="1874520"/>
          </a:xfrm>
          <a:prstGeom prst="roundRect">
            <a:avLst>
              <a:gd name="adj" fmla="val 2439"/>
            </a:avLst>
          </a:prstGeom>
          <a:solidFill>
            <a:srgbClr val="F7F9FA"/>
          </a:solidFill>
          <a:ln/>
        </p:spPr>
      </p:sp>
      <p:sp>
        <p:nvSpPr>
          <p:cNvPr id="11" name="Shape 9"/>
          <p:cNvSpPr/>
          <p:nvPr/>
        </p:nvSpPr>
        <p:spPr>
          <a:xfrm>
            <a:off x="6400800" y="1828800"/>
            <a:ext cx="457200" cy="457200"/>
          </a:xfrm>
          <a:prstGeom prst="ellipse">
            <a:avLst/>
          </a:prstGeom>
          <a:solidFill>
            <a:srgbClr val="1F7A5C"/>
          </a:solidFill>
          <a:ln/>
        </p:spPr>
      </p:sp>
      <p:sp>
        <p:nvSpPr>
          <p:cNvPr id="12" name="Text 10"/>
          <p:cNvSpPr/>
          <p:nvPr/>
        </p:nvSpPr>
        <p:spPr>
          <a:xfrm>
            <a:off x="6400800" y="182880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7040880" y="1764792"/>
            <a:ext cx="4297680" cy="594360"/>
          </a:xfrm>
          <a:prstGeom prst="rect">
            <a:avLst/>
          </a:prstGeom>
          <a:noFill/>
          <a:ln/>
        </p:spPr>
        <p:txBody>
          <a:bodyPr wrap="square" rtlCol="0" anchor="t"/>
          <a:lstStyle/>
          <a:p>
            <a:pPr indent="0" marL="0">
              <a:buNone/>
            </a:pPr>
            <a:r>
              <a:rPr lang="en-US" sz="1450" b="1" dirty="0">
                <a:solidFill>
                  <a:srgbClr val="0B3142"/>
                </a:solidFill>
                <a:latin typeface="Calibri" pitchFamily="34" charset="0"/>
                <a:ea typeface="Calibri" pitchFamily="34" charset="-122"/>
                <a:cs typeface="Calibri" pitchFamily="34" charset="-120"/>
              </a:rPr>
              <a:t>SSE has no reconnect</a:t>
            </a:r>
            <a:endParaRPr lang="en-US" sz="1450" dirty="0"/>
          </a:p>
        </p:txBody>
      </p:sp>
      <p:sp>
        <p:nvSpPr>
          <p:cNvPr id="14" name="Text 12"/>
          <p:cNvSpPr/>
          <p:nvPr/>
        </p:nvSpPr>
        <p:spPr>
          <a:xfrm>
            <a:off x="6446520" y="2423160"/>
            <a:ext cx="4846320" cy="914400"/>
          </a:xfrm>
          <a:prstGeom prst="rect">
            <a:avLst/>
          </a:prstGeom>
          <a:noFill/>
          <a:ln/>
        </p:spPr>
        <p:txBody>
          <a:bodyPr wrap="square" rtlCol="0" anchor="t"/>
          <a:lstStyle/>
          <a:p>
            <a:pPr indent="0" marL="0">
              <a:buNone/>
            </a:pPr>
            <a:r>
              <a:rPr lang="en-US" sz="1150" dirty="0">
                <a:solidFill>
                  <a:srgbClr val="1A1A1A"/>
                </a:solidFill>
                <a:latin typeface="Calibri" pitchFamily="34" charset="0"/>
                <a:ea typeface="Calibri" pitchFamily="34" charset="-122"/>
                <a:cs typeface="Calibri" pitchFamily="34" charset="-120"/>
              </a:rPr>
              <a:t>Add EventSource reconnect logic; drop the redundant 1.2s poller.</a:t>
            </a:r>
            <a:endParaRPr lang="en-US" sz="1150" dirty="0"/>
          </a:p>
        </p:txBody>
      </p:sp>
      <p:sp>
        <p:nvSpPr>
          <p:cNvPr id="15" name="Shape 13"/>
          <p:cNvSpPr/>
          <p:nvPr/>
        </p:nvSpPr>
        <p:spPr>
          <a:xfrm>
            <a:off x="548640" y="3794760"/>
            <a:ext cx="5394960" cy="1874520"/>
          </a:xfrm>
          <a:prstGeom prst="roundRect">
            <a:avLst>
              <a:gd name="adj" fmla="val 2439"/>
            </a:avLst>
          </a:prstGeom>
          <a:solidFill>
            <a:srgbClr val="F7F9FA"/>
          </a:solidFill>
          <a:ln/>
        </p:spPr>
      </p:sp>
      <p:sp>
        <p:nvSpPr>
          <p:cNvPr id="16" name="Shape 14"/>
          <p:cNvSpPr/>
          <p:nvPr/>
        </p:nvSpPr>
        <p:spPr>
          <a:xfrm>
            <a:off x="777240" y="4023360"/>
            <a:ext cx="457200" cy="457200"/>
          </a:xfrm>
          <a:prstGeom prst="ellipse">
            <a:avLst/>
          </a:prstGeom>
          <a:solidFill>
            <a:srgbClr val="1F7A5C"/>
          </a:solidFill>
          <a:ln/>
        </p:spPr>
      </p:sp>
      <p:sp>
        <p:nvSpPr>
          <p:cNvPr id="17" name="Text 15"/>
          <p:cNvSpPr/>
          <p:nvPr/>
        </p:nvSpPr>
        <p:spPr>
          <a:xfrm>
            <a:off x="777240"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417320" y="3959352"/>
            <a:ext cx="4297680" cy="594360"/>
          </a:xfrm>
          <a:prstGeom prst="rect">
            <a:avLst/>
          </a:prstGeom>
          <a:noFill/>
          <a:ln/>
        </p:spPr>
        <p:txBody>
          <a:bodyPr wrap="square" rtlCol="0" anchor="t"/>
          <a:lstStyle/>
          <a:p>
            <a:pPr indent="0" marL="0">
              <a:buNone/>
            </a:pPr>
            <a:r>
              <a:rPr lang="en-US" sz="1450" b="1" dirty="0">
                <a:solidFill>
                  <a:srgbClr val="0B3142"/>
                </a:solidFill>
                <a:latin typeface="Calibri" pitchFamily="34" charset="0"/>
                <a:ea typeface="Calibri" pitchFamily="34" charset="-122"/>
                <a:cs typeface="Calibri" pitchFamily="34" charset="-120"/>
              </a:rPr>
              <a:t>Contract modules were inlined</a:t>
            </a:r>
            <a:endParaRPr lang="en-US" sz="1450" dirty="0"/>
          </a:p>
        </p:txBody>
      </p:sp>
      <p:sp>
        <p:nvSpPr>
          <p:cNvPr id="19" name="Text 17"/>
          <p:cNvSpPr/>
          <p:nvPr/>
        </p:nvSpPr>
        <p:spPr>
          <a:xfrm>
            <a:off x="822960" y="4617720"/>
            <a:ext cx="4846320" cy="914400"/>
          </a:xfrm>
          <a:prstGeom prst="rect">
            <a:avLst/>
          </a:prstGeom>
          <a:noFill/>
          <a:ln/>
        </p:spPr>
        <p:txBody>
          <a:bodyPr wrap="square" rtlCol="0" anchor="t"/>
          <a:lstStyle/>
          <a:p>
            <a:pPr indent="0" marL="0">
              <a:buNone/>
            </a:pPr>
            <a:r>
              <a:rPr lang="en-US" sz="1150" dirty="0">
                <a:solidFill>
                  <a:srgbClr val="1A1A1A"/>
                </a:solidFill>
                <a:latin typeface="Calibri" pitchFamily="34" charset="0"/>
                <a:ea typeface="Calibri" pitchFamily="34" charset="-122"/>
                <a:cs typeface="Calibri" pitchFamily="34" charset="-120"/>
              </a:rPr>
              <a:t>Restore extract/patient.py, extract/medical.py, summarize/recommend.py if the team split still matters.</a:t>
            </a:r>
            <a:endParaRPr lang="en-US" sz="1150" dirty="0"/>
          </a:p>
        </p:txBody>
      </p:sp>
      <p:sp>
        <p:nvSpPr>
          <p:cNvPr id="20" name="Shape 18"/>
          <p:cNvSpPr/>
          <p:nvPr/>
        </p:nvSpPr>
        <p:spPr>
          <a:xfrm>
            <a:off x="6172200" y="3794760"/>
            <a:ext cx="5394960" cy="1874520"/>
          </a:xfrm>
          <a:prstGeom prst="roundRect">
            <a:avLst>
              <a:gd name="adj" fmla="val 2439"/>
            </a:avLst>
          </a:prstGeom>
          <a:solidFill>
            <a:srgbClr val="F7F9FA"/>
          </a:solidFill>
          <a:ln/>
        </p:spPr>
      </p:sp>
      <p:sp>
        <p:nvSpPr>
          <p:cNvPr id="21" name="Shape 19"/>
          <p:cNvSpPr/>
          <p:nvPr/>
        </p:nvSpPr>
        <p:spPr>
          <a:xfrm>
            <a:off x="6400800" y="4023360"/>
            <a:ext cx="457200" cy="457200"/>
          </a:xfrm>
          <a:prstGeom prst="ellipse">
            <a:avLst/>
          </a:prstGeom>
          <a:solidFill>
            <a:srgbClr val="1F7A5C"/>
          </a:solidFill>
          <a:ln/>
        </p:spPr>
      </p:sp>
      <p:sp>
        <p:nvSpPr>
          <p:cNvPr id="22" name="Text 20"/>
          <p:cNvSpPr/>
          <p:nvPr/>
        </p:nvSpPr>
        <p:spPr>
          <a:xfrm>
            <a:off x="6400800"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7040880" y="3959352"/>
            <a:ext cx="4297680" cy="594360"/>
          </a:xfrm>
          <a:prstGeom prst="rect">
            <a:avLst/>
          </a:prstGeom>
          <a:noFill/>
          <a:ln/>
        </p:spPr>
        <p:txBody>
          <a:bodyPr wrap="square" rtlCol="0" anchor="t"/>
          <a:lstStyle/>
          <a:p>
            <a:pPr indent="0" marL="0">
              <a:buNone/>
            </a:pPr>
            <a:r>
              <a:rPr lang="en-US" sz="1450" b="1" dirty="0">
                <a:solidFill>
                  <a:srgbClr val="0B3142"/>
                </a:solidFill>
                <a:latin typeface="Calibri" pitchFamily="34" charset="0"/>
                <a:ea typeface="Calibri" pitchFamily="34" charset="-122"/>
                <a:cs typeface="Calibri" pitchFamily="34" charset="-120"/>
              </a:rPr>
              <a:t>No audit trail</a:t>
            </a:r>
            <a:endParaRPr lang="en-US" sz="1450" dirty="0"/>
          </a:p>
        </p:txBody>
      </p:sp>
      <p:sp>
        <p:nvSpPr>
          <p:cNvPr id="24" name="Text 22"/>
          <p:cNvSpPr/>
          <p:nvPr/>
        </p:nvSpPr>
        <p:spPr>
          <a:xfrm>
            <a:off x="6446520" y="4617720"/>
            <a:ext cx="4846320" cy="914400"/>
          </a:xfrm>
          <a:prstGeom prst="rect">
            <a:avLst/>
          </a:prstGeom>
          <a:noFill/>
          <a:ln/>
        </p:spPr>
        <p:txBody>
          <a:bodyPr wrap="square" rtlCol="0" anchor="t"/>
          <a:lstStyle/>
          <a:p>
            <a:pPr indent="0" marL="0">
              <a:buNone/>
            </a:pPr>
            <a:r>
              <a:rPr lang="en-US" sz="1150" dirty="0">
                <a:solidFill>
                  <a:srgbClr val="1A1A1A"/>
                </a:solidFill>
                <a:latin typeface="Calibri" pitchFamily="34" charset="0"/>
                <a:ea typeface="Calibri" pitchFamily="34" charset="-122"/>
                <a:cs typeface="Calibri" pitchFamily="34" charset="-120"/>
              </a:rPr>
              <a:t>Add an append-only log of who approved each draft.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3142"/>
        </a:solidFill>
      </p:bgPr>
    </p:bg>
    <p:spTree>
      <p:nvGrpSpPr>
        <p:cNvPr id="1" name=""/>
        <p:cNvGrpSpPr/>
        <p:nvPr/>
      </p:nvGrpSpPr>
      <p:grpSpPr>
        <a:xfrm>
          <a:off x="0" y="0"/>
          <a:ext cx="0" cy="0"/>
          <a:chOff x="0" y="0"/>
          <a:chExt cx="0" cy="0"/>
        </a:xfrm>
      </p:grpSpPr>
      <p:sp>
        <p:nvSpPr>
          <p:cNvPr id="2" name="Text 0"/>
          <p:cNvSpPr/>
          <p:nvPr/>
        </p:nvSpPr>
        <p:spPr>
          <a:xfrm>
            <a:off x="731520" y="640080"/>
            <a:ext cx="1069848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Where this actually stands</a:t>
            </a:r>
            <a:endParaRPr lang="en-US" sz="3200" dirty="0"/>
          </a:p>
        </p:txBody>
      </p:sp>
      <p:sp>
        <p:nvSpPr>
          <p:cNvPr id="3" name="Shape 1"/>
          <p:cNvSpPr/>
          <p:nvPr/>
        </p:nvSpPr>
        <p:spPr>
          <a:xfrm>
            <a:off x="731520" y="1828800"/>
            <a:ext cx="457200" cy="457200"/>
          </a:xfrm>
          <a:prstGeom prst="ellipse">
            <a:avLst/>
          </a:prstGeom>
          <a:solidFill>
            <a:srgbClr val="02C39A"/>
          </a:solidFill>
          <a:ln/>
        </p:spPr>
      </p:sp>
      <p:sp>
        <p:nvSpPr>
          <p:cNvPr id="4" name="Text 2"/>
          <p:cNvSpPr/>
          <p:nvPr/>
        </p:nvSpPr>
        <p:spPr>
          <a:xfrm>
            <a:off x="731520" y="182880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5" name="Text 3"/>
          <p:cNvSpPr/>
          <p:nvPr/>
        </p:nvSpPr>
        <p:spPr>
          <a:xfrm>
            <a:off x="1325880" y="1828800"/>
            <a:ext cx="448056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Good enough for the capstone demo</a:t>
            </a:r>
            <a:endParaRPr lang="en-US" sz="1500" dirty="0"/>
          </a:p>
        </p:txBody>
      </p:sp>
      <p:sp>
        <p:nvSpPr>
          <p:cNvPr id="6" name="Text 4"/>
          <p:cNvSpPr/>
          <p:nvPr/>
        </p:nvSpPr>
        <p:spPr>
          <a:xfrm>
            <a:off x="822960" y="2468880"/>
            <a:ext cx="4937760" cy="2926080"/>
          </a:xfrm>
          <a:prstGeom prst="rect">
            <a:avLst/>
          </a:prstGeom>
          <a:noFill/>
          <a:ln/>
        </p:spPr>
        <p:txBody>
          <a:bodyPr wrap="square" rtlCol="0" anchor="t"/>
          <a:lstStyle/>
          <a:p>
            <a:pPr marL="342900" indent="-342900">
              <a:spcAft>
                <a:spcPts val="1000"/>
              </a:spcAft>
              <a:buSzPct val="100000"/>
              <a:buChar char="•"/>
            </a:pPr>
            <a:r>
              <a:rPr lang="en-US" sz="1300" dirty="0">
                <a:solidFill>
                  <a:srgbClr val="9FB4BE"/>
                </a:solidFill>
                <a:latin typeface="Calibri" pitchFamily="34" charset="0"/>
                <a:ea typeface="Calibri" pitchFamily="34" charset="-122"/>
                <a:cs typeface="Calibri" pitchFamily="34" charset="-120"/>
              </a:rPr>
              <a:t>12 synthetic cases</a:t>
            </a:r>
            <a:endParaRPr lang="en-US" sz="1300" dirty="0"/>
          </a:p>
          <a:p>
            <a:pPr marL="342900" indent="-342900">
              <a:spcAft>
                <a:spcPts val="1000"/>
              </a:spcAft>
              <a:buSzPct val="100000"/>
              <a:buChar char="•"/>
            </a:pPr>
            <a:r>
              <a:rPr lang="en-US" sz="1300" dirty="0">
                <a:solidFill>
                  <a:srgbClr val="9FB4BE"/>
                </a:solidFill>
                <a:latin typeface="Calibri" pitchFamily="34" charset="0"/>
                <a:ea typeface="Calibri" pitchFamily="34" charset="-122"/>
                <a:cs typeface="Calibri" pitchFamily="34" charset="-120"/>
              </a:rPr>
              <a:t>Mock graph tests</a:t>
            </a:r>
            <a:endParaRPr lang="en-US" sz="1300" dirty="0"/>
          </a:p>
          <a:p>
            <a:pPr marL="342900" indent="-342900">
              <a:spcAft>
                <a:spcPts val="1000"/>
              </a:spcAft>
              <a:buSzPct val="100000"/>
              <a:buChar char="•"/>
            </a:pPr>
            <a:r>
              <a:rPr lang="en-US" sz="1300" dirty="0">
                <a:solidFill>
                  <a:srgbClr val="9FB4BE"/>
                </a:solidFill>
                <a:latin typeface="Calibri" pitchFamily="34" charset="0"/>
                <a:ea typeface="Calibri" pitchFamily="34" charset="-122"/>
                <a:cs typeface="Calibri" pitchFamily="34" charset="-120"/>
              </a:rPr>
              <a:t>A working HITL UI</a:t>
            </a:r>
            <a:endParaRPr lang="en-US" sz="1300" dirty="0"/>
          </a:p>
          <a:p>
            <a:pPr marL="342900" indent="-342900">
              <a:spcAft>
                <a:spcPts val="1000"/>
              </a:spcAft>
              <a:buSzPct val="100000"/>
              <a:buChar char="•"/>
            </a:pPr>
            <a:r>
              <a:rPr lang="en-US" sz="1300" dirty="0">
                <a:solidFill>
                  <a:srgbClr val="9FB4BE"/>
                </a:solidFill>
                <a:latin typeface="Calibri" pitchFamily="34" charset="0"/>
                <a:ea typeface="Calibri" pitchFamily="34" charset="-122"/>
                <a:cs typeface="Calibri" pitchFamily="34" charset="-120"/>
              </a:rPr>
              <a:t>Every capstone box genuinely exercised</a:t>
            </a:r>
            <a:endParaRPr lang="en-US" sz="1300" dirty="0"/>
          </a:p>
        </p:txBody>
      </p:sp>
      <p:sp>
        <p:nvSpPr>
          <p:cNvPr id="7" name="Shape 5"/>
          <p:cNvSpPr/>
          <p:nvPr/>
        </p:nvSpPr>
        <p:spPr>
          <a:xfrm>
            <a:off x="6492240" y="1828800"/>
            <a:ext cx="457200" cy="457200"/>
          </a:xfrm>
          <a:prstGeom prst="ellipse">
            <a:avLst/>
          </a:prstGeom>
          <a:solidFill>
            <a:srgbClr val="C1121F"/>
          </a:solidFill>
          <a:ln/>
        </p:spPr>
      </p:sp>
      <p:sp>
        <p:nvSpPr>
          <p:cNvPr id="8" name="Text 6"/>
          <p:cNvSpPr/>
          <p:nvPr/>
        </p:nvSpPr>
        <p:spPr>
          <a:xfrm>
            <a:off x="6492240" y="182880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9" name="Text 7"/>
          <p:cNvSpPr/>
          <p:nvPr/>
        </p:nvSpPr>
        <p:spPr>
          <a:xfrm>
            <a:off x="7086600" y="1828800"/>
            <a:ext cx="448056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Not a substitute for</a:t>
            </a:r>
            <a:endParaRPr lang="en-US" sz="1500" dirty="0"/>
          </a:p>
        </p:txBody>
      </p:sp>
      <p:sp>
        <p:nvSpPr>
          <p:cNvPr id="10" name="Text 8"/>
          <p:cNvSpPr/>
          <p:nvPr/>
        </p:nvSpPr>
        <p:spPr>
          <a:xfrm>
            <a:off x="6583680" y="2468880"/>
            <a:ext cx="4937760" cy="2926080"/>
          </a:xfrm>
          <a:prstGeom prst="rect">
            <a:avLst/>
          </a:prstGeom>
          <a:noFill/>
          <a:ln/>
        </p:spPr>
        <p:txBody>
          <a:bodyPr wrap="square" rtlCol="0" anchor="t"/>
          <a:lstStyle/>
          <a:p>
            <a:pPr marL="342900" indent="-342900">
              <a:spcAft>
                <a:spcPts val="1000"/>
              </a:spcAft>
              <a:buSzPct val="100000"/>
              <a:buChar char="•"/>
            </a:pPr>
            <a:r>
              <a:rPr lang="en-US" sz="1300" dirty="0">
                <a:solidFill>
                  <a:srgbClr val="9FB4BE"/>
                </a:solidFill>
                <a:latin typeface="Calibri" pitchFamily="34" charset="0"/>
                <a:ea typeface="Calibri" pitchFamily="34" charset="-122"/>
                <a:cs typeface="Calibri" pitchFamily="34" charset="-120"/>
              </a:rPr>
              <a:t>Real identity &amp; auth</a:t>
            </a:r>
            <a:endParaRPr lang="en-US" sz="1300" dirty="0"/>
          </a:p>
          <a:p>
            <a:pPr marL="342900" indent="-342900">
              <a:spcAft>
                <a:spcPts val="1000"/>
              </a:spcAft>
              <a:buSzPct val="100000"/>
              <a:buChar char="•"/>
            </a:pPr>
            <a:r>
              <a:rPr lang="en-US" sz="1300" dirty="0">
                <a:solidFill>
                  <a:srgbClr val="9FB4BE"/>
                </a:solidFill>
                <a:latin typeface="Calibri" pitchFamily="34" charset="0"/>
                <a:ea typeface="Calibri" pitchFamily="34" charset="-122"/>
                <a:cs typeface="Calibri" pitchFamily="34" charset="-120"/>
              </a:rPr>
              <a:t>Durable state</a:t>
            </a:r>
            <a:endParaRPr lang="en-US" sz="1300" dirty="0"/>
          </a:p>
          <a:p>
            <a:pPr marL="342900" indent="-342900">
              <a:spcAft>
                <a:spcPts val="1000"/>
              </a:spcAft>
              <a:buSzPct val="100000"/>
              <a:buChar char="•"/>
            </a:pPr>
            <a:r>
              <a:rPr lang="en-US" sz="1300" dirty="0">
                <a:solidFill>
                  <a:srgbClr val="9FB4BE"/>
                </a:solidFill>
                <a:latin typeface="Calibri" pitchFamily="34" charset="0"/>
                <a:ea typeface="Calibri" pitchFamily="34" charset="-122"/>
                <a:cs typeface="Calibri" pitchFamily="34" charset="-120"/>
              </a:rPr>
              <a:t>Grounded recommendations</a:t>
            </a:r>
            <a:endParaRPr lang="en-US" sz="1300" dirty="0"/>
          </a:p>
          <a:p>
            <a:pPr marL="342900" indent="-342900">
              <a:spcAft>
                <a:spcPts val="1000"/>
              </a:spcAft>
              <a:buSzPct val="100000"/>
              <a:buChar char="•"/>
            </a:pPr>
            <a:r>
              <a:rPr lang="en-US" sz="1300" dirty="0">
                <a:solidFill>
                  <a:srgbClr val="9FB4BE"/>
                </a:solidFill>
                <a:latin typeface="Calibri" pitchFamily="34" charset="0"/>
                <a:ea typeface="Calibri" pitchFamily="34" charset="-122"/>
                <a:cs typeface="Calibri" pitchFamily="34" charset="-120"/>
              </a:rPr>
              <a:t>OCR</a:t>
            </a:r>
            <a:endParaRPr lang="en-US" sz="1300" dirty="0"/>
          </a:p>
          <a:p>
            <a:pPr marL="342900" indent="-342900">
              <a:spcAft>
                <a:spcPts val="1000"/>
              </a:spcAft>
              <a:buSzPct val="100000"/>
              <a:buChar char="•"/>
            </a:pPr>
            <a:r>
              <a:rPr lang="en-US" sz="1300" dirty="0">
                <a:solidFill>
                  <a:srgbClr val="9FB4BE"/>
                </a:solidFill>
                <a:latin typeface="Calibri" pitchFamily="34" charset="0"/>
                <a:ea typeface="Calibri" pitchFamily="34" charset="-122"/>
                <a:cs typeface="Calibri" pitchFamily="34" charset="-120"/>
              </a:rPr>
              <a:t>A production image</a:t>
            </a:r>
            <a:endParaRPr lang="en-US" sz="1300" dirty="0"/>
          </a:p>
        </p:txBody>
      </p:sp>
      <p:sp>
        <p:nvSpPr>
          <p:cNvPr id="11" name="Shape 9"/>
          <p:cNvSpPr/>
          <p:nvPr/>
        </p:nvSpPr>
        <p:spPr>
          <a:xfrm>
            <a:off x="6355080" y="1828800"/>
            <a:ext cx="18288" cy="3383280"/>
          </a:xfrm>
          <a:prstGeom prst="rect">
            <a:avLst/>
          </a:prstGeom>
          <a:solidFill>
            <a:srgbClr val="2C4A57"/>
          </a:solidFill>
          <a:ln/>
        </p:spPr>
      </p:sp>
      <p:sp>
        <p:nvSpPr>
          <p:cNvPr id="12" name="Text 10"/>
          <p:cNvSpPr/>
          <p:nvPr/>
        </p:nvSpPr>
        <p:spPr>
          <a:xfrm>
            <a:off x="731520" y="5943600"/>
            <a:ext cx="10698480" cy="457200"/>
          </a:xfrm>
          <a:prstGeom prst="rect">
            <a:avLst/>
          </a:prstGeom>
          <a:noFill/>
          <a:ln/>
        </p:spPr>
        <p:txBody>
          <a:bodyPr wrap="square" rtlCol="0" anchor="ctr"/>
          <a:lstStyle/>
          <a:p>
            <a:pPr algn="ctr" indent="0" marL="0">
              <a:buNone/>
            </a:pPr>
            <a:r>
              <a:rPr lang="en-US" sz="1400" i="1" dirty="0">
                <a:solidFill>
                  <a:srgbClr val="6FD8C7"/>
                </a:solidFill>
                <a:latin typeface="Calibri" pitchFamily="34" charset="0"/>
                <a:ea typeface="Calibri" pitchFamily="34" charset="-122"/>
                <a:cs typeface="Calibri" pitchFamily="34" charset="-120"/>
              </a:rPr>
              <a:t>Keep the educational banner up until the P0 and P1 gaps above are closed.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3142"/>
        </a:solidFill>
      </p:bgPr>
    </p:bg>
    <p:spTree>
      <p:nvGrpSpPr>
        <p:cNvPr id="1" name=""/>
        <p:cNvGrpSpPr/>
        <p:nvPr/>
      </p:nvGrpSpPr>
      <p:grpSpPr>
        <a:xfrm>
          <a:off x="0" y="0"/>
          <a:ext cx="0" cy="0"/>
          <a:chOff x="0" y="0"/>
          <a:chExt cx="0" cy="0"/>
        </a:xfrm>
      </p:grpSpPr>
      <p:sp>
        <p:nvSpPr>
          <p:cNvPr id="2" name="Text 0"/>
          <p:cNvSpPr/>
          <p:nvPr/>
        </p:nvSpPr>
        <p:spPr>
          <a:xfrm>
            <a:off x="914400" y="2286000"/>
            <a:ext cx="10360152" cy="914400"/>
          </a:xfrm>
          <a:prstGeom prst="rect">
            <a:avLst/>
          </a:prstGeom>
          <a:noFill/>
          <a:ln/>
        </p:spPr>
        <p:txBody>
          <a:bodyPr wrap="square"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Team &amp; Delivery</a:t>
            </a:r>
            <a:endParaRPr lang="en-US" sz="4200" dirty="0"/>
          </a:p>
        </p:txBody>
      </p:sp>
      <p:sp>
        <p:nvSpPr>
          <p:cNvPr id="3" name="Text 1"/>
          <p:cNvSpPr/>
          <p:nvPr/>
        </p:nvSpPr>
        <p:spPr>
          <a:xfrm>
            <a:off x="1280160" y="3246120"/>
            <a:ext cx="9628632" cy="457200"/>
          </a:xfrm>
          <a:prstGeom prst="rect">
            <a:avLst/>
          </a:prstGeom>
          <a:noFill/>
          <a:ln/>
        </p:spPr>
        <p:txBody>
          <a:bodyPr wrap="square" rtlCol="0" anchor="ctr"/>
          <a:lstStyle/>
          <a:p>
            <a:pPr algn="ctr" indent="0" marL="0">
              <a:buNone/>
            </a:pPr>
            <a:r>
              <a:rPr lang="en-US" sz="1500" i="1" dirty="0">
                <a:solidFill>
                  <a:srgbClr val="6FD8C7"/>
                </a:solidFill>
                <a:latin typeface="Calibri" pitchFamily="34" charset="0"/>
                <a:ea typeface="Calibri" pitchFamily="34" charset="-122"/>
                <a:cs typeface="Calibri" pitchFamily="34" charset="-120"/>
              </a:rPr>
              <a:t>8 contributors — coordinated across orchestration, UI, RAG, extraction, summarization and recommendations.</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2960" y="4343400"/>
          <a:ext cx="10543032" cy="914400"/>
        </p:xfrm>
        <a:graphic>
          <a:graphicData uri="http://schemas.openxmlformats.org/drawingml/2006/table">
            <a:tbl>
              <a:tblPr/>
              <a:tblGrid>
                <a:gridCol w="2108606"/>
                <a:gridCol w="2108606"/>
                <a:gridCol w="2108606"/>
                <a:gridCol w="2108606"/>
                <a:gridCol w="2108606"/>
              </a:tblGrid>
              <a:tr h="45720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HITL + LangGraph</a:t>
                      </a:r>
                      <a:endParaRPr lang="en-US" sz="1150" dirty="0">
                        <a:latin typeface="Calibri" charset="0"/>
                        <a:ea typeface="Calibri" charset="0"/>
                        <a:cs typeface="Calibri" charset="0"/>
                      </a:endParaRPr>
                    </a:p>
                  </a:txBody>
                  <a:tcPr marL="91440" marR="91440" marT="45720" marB="45720" anchor="ctr">
                    <a:lnL w="12700" cap="flat" cmpd="sng" algn="ctr">
                      <a:solidFill>
                        <a:srgbClr val="2C5A73"/>
                      </a:solidFill>
                      <a:prstDash val="solid"/>
                      <a:round/>
                      <a:headEnd type="none" w="med" len="med"/>
                      <a:tailEnd type="none" w="med" len="med"/>
                    </a:lnL>
                    <a:lnR w="12700" cap="flat" cmpd="sng" algn="ctr">
                      <a:solidFill>
                        <a:srgbClr val="2C5A73"/>
                      </a:solidFill>
                      <a:prstDash val="solid"/>
                      <a:round/>
                      <a:headEnd type="none" w="med" len="med"/>
                      <a:tailEnd type="none" w="med" len="med"/>
                    </a:lnR>
                    <a:lnT w="12700" cap="flat" cmpd="sng" algn="ctr">
                      <a:solidFill>
                        <a:srgbClr val="2C5A73"/>
                      </a:solidFill>
                      <a:prstDash val="solid"/>
                      <a:round/>
                      <a:headEnd type="none" w="med" len="med"/>
                      <a:tailEnd type="none" w="med" len="med"/>
                    </a:lnT>
                    <a:lnB w="12700" cap="flat" cmpd="sng" algn="ctr">
                      <a:solidFill>
                        <a:srgbClr val="2C5A73"/>
                      </a:solidFill>
                      <a:prstDash val="solid"/>
                      <a:round/>
                      <a:headEnd type="none" w="med" len="med"/>
                      <a:tailEnd type="none" w="med" len="med"/>
                    </a:lnB>
                    <a:solidFill>
                      <a:srgbClr val="13425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React + FastAPI</a:t>
                      </a:r>
                      <a:endParaRPr lang="en-US" sz="1150" dirty="0">
                        <a:latin typeface="Calibri" charset="0"/>
                        <a:ea typeface="Calibri" charset="0"/>
                        <a:cs typeface="Calibri" charset="0"/>
                      </a:endParaRPr>
                    </a:p>
                  </a:txBody>
                  <a:tcPr marL="91440" marR="91440" marT="45720" marB="45720" anchor="ctr">
                    <a:lnL w="12700" cap="flat" cmpd="sng" algn="ctr">
                      <a:solidFill>
                        <a:srgbClr val="2C5A73"/>
                      </a:solidFill>
                      <a:prstDash val="solid"/>
                      <a:round/>
                      <a:headEnd type="none" w="med" len="med"/>
                      <a:tailEnd type="none" w="med" len="med"/>
                    </a:lnL>
                    <a:lnR w="12700" cap="flat" cmpd="sng" algn="ctr">
                      <a:solidFill>
                        <a:srgbClr val="2C5A73"/>
                      </a:solidFill>
                      <a:prstDash val="solid"/>
                      <a:round/>
                      <a:headEnd type="none" w="med" len="med"/>
                      <a:tailEnd type="none" w="med" len="med"/>
                    </a:lnR>
                    <a:lnT w="12700" cap="flat" cmpd="sng" algn="ctr">
                      <a:solidFill>
                        <a:srgbClr val="2C5A73"/>
                      </a:solidFill>
                      <a:prstDash val="solid"/>
                      <a:round/>
                      <a:headEnd type="none" w="med" len="med"/>
                      <a:tailEnd type="none" w="med" len="med"/>
                    </a:lnT>
                    <a:lnB w="12700" cap="flat" cmpd="sng" algn="ctr">
                      <a:solidFill>
                        <a:srgbClr val="2C5A73"/>
                      </a:solidFill>
                      <a:prstDash val="solid"/>
                      <a:round/>
                      <a:headEnd type="none" w="med" len="med"/>
                      <a:tailEnd type="none" w="med" len="med"/>
                    </a:lnB>
                    <a:solidFill>
                      <a:srgbClr val="13425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RAG corpus + retrieval</a:t>
                      </a:r>
                      <a:endParaRPr lang="en-US" sz="1150" dirty="0">
                        <a:latin typeface="Calibri" charset="0"/>
                        <a:ea typeface="Calibri" charset="0"/>
                        <a:cs typeface="Calibri" charset="0"/>
                      </a:endParaRPr>
                    </a:p>
                  </a:txBody>
                  <a:tcPr marL="91440" marR="91440" marT="45720" marB="45720" anchor="ctr">
                    <a:lnL w="12700" cap="flat" cmpd="sng" algn="ctr">
                      <a:solidFill>
                        <a:srgbClr val="2C5A73"/>
                      </a:solidFill>
                      <a:prstDash val="solid"/>
                      <a:round/>
                      <a:headEnd type="none" w="med" len="med"/>
                      <a:tailEnd type="none" w="med" len="med"/>
                    </a:lnL>
                    <a:lnR w="12700" cap="flat" cmpd="sng" algn="ctr">
                      <a:solidFill>
                        <a:srgbClr val="2C5A73"/>
                      </a:solidFill>
                      <a:prstDash val="solid"/>
                      <a:round/>
                      <a:headEnd type="none" w="med" len="med"/>
                      <a:tailEnd type="none" w="med" len="med"/>
                    </a:lnR>
                    <a:lnT w="12700" cap="flat" cmpd="sng" algn="ctr">
                      <a:solidFill>
                        <a:srgbClr val="2C5A73"/>
                      </a:solidFill>
                      <a:prstDash val="solid"/>
                      <a:round/>
                      <a:headEnd type="none" w="med" len="med"/>
                      <a:tailEnd type="none" w="med" len="med"/>
                    </a:lnT>
                    <a:lnB w="12700" cap="flat" cmpd="sng" algn="ctr">
                      <a:solidFill>
                        <a:srgbClr val="2C5A73"/>
                      </a:solidFill>
                      <a:prstDash val="solid"/>
                      <a:round/>
                      <a:headEnd type="none" w="med" len="med"/>
                      <a:tailEnd type="none" w="med" len="med"/>
                    </a:lnB>
                    <a:solidFill>
                      <a:srgbClr val="13425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Structured extraction</a:t>
                      </a:r>
                      <a:endParaRPr lang="en-US" sz="1150" dirty="0">
                        <a:latin typeface="Calibri" charset="0"/>
                        <a:ea typeface="Calibri" charset="0"/>
                        <a:cs typeface="Calibri" charset="0"/>
                      </a:endParaRPr>
                    </a:p>
                  </a:txBody>
                  <a:tcPr marL="91440" marR="91440" marT="45720" marB="45720" anchor="ctr">
                    <a:lnL w="12700" cap="flat" cmpd="sng" algn="ctr">
                      <a:solidFill>
                        <a:srgbClr val="2C5A73"/>
                      </a:solidFill>
                      <a:prstDash val="solid"/>
                      <a:round/>
                      <a:headEnd type="none" w="med" len="med"/>
                      <a:tailEnd type="none" w="med" len="med"/>
                    </a:lnL>
                    <a:lnR w="12700" cap="flat" cmpd="sng" algn="ctr">
                      <a:solidFill>
                        <a:srgbClr val="2C5A73"/>
                      </a:solidFill>
                      <a:prstDash val="solid"/>
                      <a:round/>
                      <a:headEnd type="none" w="med" len="med"/>
                      <a:tailEnd type="none" w="med" len="med"/>
                    </a:lnR>
                    <a:lnT w="12700" cap="flat" cmpd="sng" algn="ctr">
                      <a:solidFill>
                        <a:srgbClr val="2C5A73"/>
                      </a:solidFill>
                      <a:prstDash val="solid"/>
                      <a:round/>
                      <a:headEnd type="none" w="med" len="med"/>
                      <a:tailEnd type="none" w="med" len="med"/>
                    </a:lnT>
                    <a:lnB w="12700" cap="flat" cmpd="sng" algn="ctr">
                      <a:solidFill>
                        <a:srgbClr val="2C5A73"/>
                      </a:solidFill>
                      <a:prstDash val="solid"/>
                      <a:round/>
                      <a:headEnd type="none" w="med" len="med"/>
                      <a:tailEnd type="none" w="med" len="med"/>
                    </a:lnB>
                    <a:solidFill>
                      <a:srgbClr val="13425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Grounded generation</a:t>
                      </a:r>
                      <a:endParaRPr lang="en-US" sz="1150" dirty="0">
                        <a:latin typeface="Calibri" charset="0"/>
                        <a:ea typeface="Calibri" charset="0"/>
                        <a:cs typeface="Calibri" charset="0"/>
                      </a:endParaRPr>
                    </a:p>
                  </a:txBody>
                  <a:tcPr marL="91440" marR="91440" marT="45720" marB="45720" anchor="ctr">
                    <a:lnL w="12700" cap="flat" cmpd="sng" algn="ctr">
                      <a:solidFill>
                        <a:srgbClr val="2C5A73"/>
                      </a:solidFill>
                      <a:prstDash val="solid"/>
                      <a:round/>
                      <a:headEnd type="none" w="med" len="med"/>
                      <a:tailEnd type="none" w="med" len="med"/>
                    </a:lnL>
                    <a:lnR w="12700" cap="flat" cmpd="sng" algn="ctr">
                      <a:solidFill>
                        <a:srgbClr val="2C5A73"/>
                      </a:solidFill>
                      <a:prstDash val="solid"/>
                      <a:round/>
                      <a:headEnd type="none" w="med" len="med"/>
                      <a:tailEnd type="none" w="med" len="med"/>
                    </a:lnR>
                    <a:lnT w="12700" cap="flat" cmpd="sng" algn="ctr">
                      <a:solidFill>
                        <a:srgbClr val="2C5A73"/>
                      </a:solidFill>
                      <a:prstDash val="solid"/>
                      <a:round/>
                      <a:headEnd type="none" w="med" len="med"/>
                      <a:tailEnd type="none" w="med" len="med"/>
                    </a:lnT>
                    <a:lnB w="12700" cap="flat" cmpd="sng" algn="ctr">
                      <a:solidFill>
                        <a:srgbClr val="2C5A73"/>
                      </a:solidFill>
                      <a:prstDash val="solid"/>
                      <a:round/>
                      <a:headEnd type="none" w="med" len="med"/>
                      <a:tailEnd type="none" w="med" len="med"/>
                    </a:lnB>
                    <a:solidFill>
                      <a:srgbClr val="13425A"/>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algn="l" indent="0" marL="0">
              <a:buNone/>
            </a:pPr>
            <a:r>
              <a:rPr lang="en-US" sz="2800" b="1" dirty="0">
                <a:solidFill>
                  <a:srgbClr val="0B3142"/>
                </a:solidFill>
                <a:latin typeface="Cambria" pitchFamily="34" charset="0"/>
                <a:ea typeface="Cambria" pitchFamily="34" charset="-122"/>
                <a:cs typeface="Cambria" pitchFamily="34" charset="-120"/>
              </a:rPr>
              <a:t>Project delivery model</a:t>
            </a:r>
            <a:endParaRPr lang="en-US" sz="2800" dirty="0"/>
          </a:p>
        </p:txBody>
      </p:sp>
      <p:sp>
        <p:nvSpPr>
          <p:cNvPr id="3" name="Text 1"/>
          <p:cNvSpPr/>
          <p:nvPr/>
        </p:nvSpPr>
        <p:spPr>
          <a:xfrm>
            <a:off x="548640" y="932688"/>
            <a:ext cx="11091672" cy="365760"/>
          </a:xfrm>
          <a:prstGeom prst="rect">
            <a:avLst/>
          </a:prstGeom>
          <a:noFill/>
          <a:ln/>
        </p:spPr>
        <p:txBody>
          <a:bodyPr wrap="square" rtlCol="0" anchor="ctr"/>
          <a:lstStyle/>
          <a:p>
            <a:pPr algn="l" indent="0" marL="0">
              <a:buNone/>
            </a:pPr>
            <a:r>
              <a:rPr lang="en-US" sz="1300" i="1" dirty="0">
                <a:solidFill>
                  <a:srgbClr val="5B6B76"/>
                </a:solidFill>
                <a:latin typeface="Calibri" pitchFamily="34" charset="0"/>
                <a:ea typeface="Calibri" pitchFamily="34" charset="-122"/>
                <a:cs typeface="Calibri" pitchFamily="34" charset="-120"/>
              </a:rPr>
              <a:t>Work was split by clear ownership and integrated through shared contracts.</a:t>
            </a:r>
            <a:endParaRPr lang="en-US" sz="1300" dirty="0"/>
          </a:p>
        </p:txBody>
      </p:sp>
      <p:sp>
        <p:nvSpPr>
          <p:cNvPr id="4" name="Shape 2"/>
          <p:cNvSpPr/>
          <p:nvPr/>
        </p:nvSpPr>
        <p:spPr>
          <a:xfrm>
            <a:off x="548640" y="1645920"/>
            <a:ext cx="11091672" cy="1005840"/>
          </a:xfrm>
          <a:prstGeom prst="roundRect">
            <a:avLst>
              <a:gd name="adj" fmla="val 4545"/>
            </a:avLst>
          </a:prstGeom>
          <a:solidFill>
            <a:srgbClr val="FFFFFF"/>
          </a:solidFill>
          <a:ln w="12700">
            <a:solidFill>
              <a:srgbClr val="D8E0E4"/>
            </a:solidFill>
            <a:prstDash val="solid"/>
          </a:ln>
        </p:spPr>
      </p:sp>
      <p:sp>
        <p:nvSpPr>
          <p:cNvPr id="5" name="Shape 3"/>
          <p:cNvSpPr/>
          <p:nvPr/>
        </p:nvSpPr>
        <p:spPr>
          <a:xfrm>
            <a:off x="777240" y="1801368"/>
            <a:ext cx="694944" cy="694944"/>
          </a:xfrm>
          <a:prstGeom prst="ellipse">
            <a:avLst/>
          </a:prstGeom>
          <a:solidFill>
            <a:srgbClr val="0B3142"/>
          </a:solidFill>
          <a:ln/>
        </p:spPr>
      </p:sp>
      <p:sp>
        <p:nvSpPr>
          <p:cNvPr id="6" name="Text 4"/>
          <p:cNvSpPr/>
          <p:nvPr/>
        </p:nvSpPr>
        <p:spPr>
          <a:xfrm>
            <a:off x="777240" y="1801368"/>
            <a:ext cx="694944" cy="694944"/>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a:t>
            </a:r>
            <a:endParaRPr lang="en-US" sz="1500" dirty="0"/>
          </a:p>
        </p:txBody>
      </p:sp>
      <p:sp>
        <p:nvSpPr>
          <p:cNvPr id="7" name="Text 5"/>
          <p:cNvSpPr/>
          <p:nvPr/>
        </p:nvSpPr>
        <p:spPr>
          <a:xfrm>
            <a:off x="1691640" y="1719072"/>
            <a:ext cx="2743200" cy="411480"/>
          </a:xfrm>
          <a:prstGeom prst="rect">
            <a:avLst/>
          </a:prstGeom>
          <a:noFill/>
          <a:ln/>
        </p:spPr>
        <p:txBody>
          <a:bodyPr wrap="square" rtlCol="0" anchor="ctr"/>
          <a:lstStyle/>
          <a:p>
            <a:pPr indent="0" marL="0">
              <a:buNone/>
            </a:pPr>
            <a:r>
              <a:rPr lang="en-US" sz="1500" b="1" dirty="0">
                <a:solidFill>
                  <a:srgbClr val="0B3142"/>
                </a:solidFill>
                <a:latin typeface="Cambria" pitchFamily="34" charset="0"/>
                <a:ea typeface="Cambria" pitchFamily="34" charset="-122"/>
                <a:cs typeface="Cambria" pitchFamily="34" charset="-120"/>
              </a:rPr>
              <a:t>Foundation</a:t>
            </a:r>
            <a:endParaRPr lang="en-US" sz="1500" dirty="0"/>
          </a:p>
        </p:txBody>
      </p:sp>
      <p:sp>
        <p:nvSpPr>
          <p:cNvPr id="8" name="Text 6"/>
          <p:cNvSpPr/>
          <p:nvPr/>
        </p:nvSpPr>
        <p:spPr>
          <a:xfrm>
            <a:off x="1691640" y="2103120"/>
            <a:ext cx="2743200" cy="457200"/>
          </a:xfrm>
          <a:prstGeom prst="rect">
            <a:avLst/>
          </a:prstGeom>
          <a:noFill/>
          <a:ln/>
        </p:spPr>
        <p:txBody>
          <a:bodyPr wrap="square" rtlCol="0" anchor="t"/>
          <a:lstStyle/>
          <a:p>
            <a:pPr indent="0" marL="0">
              <a:buNone/>
            </a:pPr>
            <a:r>
              <a:rPr lang="en-US" sz="1000" i="1" dirty="0">
                <a:solidFill>
                  <a:srgbClr val="5B6B76"/>
                </a:solidFill>
                <a:latin typeface="Calibri" pitchFamily="34" charset="0"/>
                <a:ea typeface="Calibri" pitchFamily="34" charset="-122"/>
                <a:cs typeface="Calibri" pitchFamily="34" charset="-120"/>
              </a:rPr>
              <a:t>Turjoy</a:t>
            </a:r>
            <a:endParaRPr lang="en-US" sz="1000" dirty="0"/>
          </a:p>
        </p:txBody>
      </p:sp>
      <p:sp>
        <p:nvSpPr>
          <p:cNvPr id="9" name="Text 7"/>
          <p:cNvSpPr/>
          <p:nvPr/>
        </p:nvSpPr>
        <p:spPr>
          <a:xfrm>
            <a:off x="4572000" y="1719072"/>
            <a:ext cx="6858000"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Repo, contracts, synthetic cases, LLM fallback, graph skeleton</a:t>
            </a:r>
            <a:endParaRPr lang="en-US" sz="1250" dirty="0"/>
          </a:p>
        </p:txBody>
      </p:sp>
      <p:sp>
        <p:nvSpPr>
          <p:cNvPr id="10" name="Shape 8"/>
          <p:cNvSpPr/>
          <p:nvPr/>
        </p:nvSpPr>
        <p:spPr>
          <a:xfrm>
            <a:off x="548640" y="2816352"/>
            <a:ext cx="11091672" cy="1005840"/>
          </a:xfrm>
          <a:prstGeom prst="roundRect">
            <a:avLst>
              <a:gd name="adj" fmla="val 4545"/>
            </a:avLst>
          </a:prstGeom>
          <a:solidFill>
            <a:srgbClr val="FFFFFF"/>
          </a:solidFill>
          <a:ln w="12700">
            <a:solidFill>
              <a:srgbClr val="D8E0E4"/>
            </a:solidFill>
            <a:prstDash val="solid"/>
          </a:ln>
        </p:spPr>
      </p:sp>
      <p:sp>
        <p:nvSpPr>
          <p:cNvPr id="11" name="Shape 9"/>
          <p:cNvSpPr/>
          <p:nvPr/>
        </p:nvSpPr>
        <p:spPr>
          <a:xfrm>
            <a:off x="777240" y="2971800"/>
            <a:ext cx="694944" cy="694944"/>
          </a:xfrm>
          <a:prstGeom prst="ellipse">
            <a:avLst/>
          </a:prstGeom>
          <a:solidFill>
            <a:srgbClr val="028090"/>
          </a:solidFill>
          <a:ln/>
        </p:spPr>
      </p:sp>
      <p:sp>
        <p:nvSpPr>
          <p:cNvPr id="12" name="Text 10"/>
          <p:cNvSpPr/>
          <p:nvPr/>
        </p:nvSpPr>
        <p:spPr>
          <a:xfrm>
            <a:off x="777240" y="2971800"/>
            <a:ext cx="694944" cy="694944"/>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13" name="Text 11"/>
          <p:cNvSpPr/>
          <p:nvPr/>
        </p:nvSpPr>
        <p:spPr>
          <a:xfrm>
            <a:off x="1691640" y="2889504"/>
            <a:ext cx="2743200" cy="411480"/>
          </a:xfrm>
          <a:prstGeom prst="rect">
            <a:avLst/>
          </a:prstGeom>
          <a:noFill/>
          <a:ln/>
        </p:spPr>
        <p:txBody>
          <a:bodyPr wrap="square" rtlCol="0" anchor="ctr"/>
          <a:lstStyle/>
          <a:p>
            <a:pPr indent="0" marL="0">
              <a:buNone/>
            </a:pPr>
            <a:r>
              <a:rPr lang="en-US" sz="1500" b="1" dirty="0">
                <a:solidFill>
                  <a:srgbClr val="0B3142"/>
                </a:solidFill>
                <a:latin typeface="Cambria" pitchFamily="34" charset="0"/>
                <a:ea typeface="Cambria" pitchFamily="34" charset="-122"/>
                <a:cs typeface="Cambria" pitchFamily="34" charset="-120"/>
              </a:rPr>
              <a:t>Inputs + RAG</a:t>
            </a:r>
            <a:endParaRPr lang="en-US" sz="1500" dirty="0"/>
          </a:p>
        </p:txBody>
      </p:sp>
      <p:sp>
        <p:nvSpPr>
          <p:cNvPr id="14" name="Text 12"/>
          <p:cNvSpPr/>
          <p:nvPr/>
        </p:nvSpPr>
        <p:spPr>
          <a:xfrm>
            <a:off x="1691640" y="3273552"/>
            <a:ext cx="2743200" cy="457200"/>
          </a:xfrm>
          <a:prstGeom prst="rect">
            <a:avLst/>
          </a:prstGeom>
          <a:noFill/>
          <a:ln/>
        </p:spPr>
        <p:txBody>
          <a:bodyPr wrap="square" rtlCol="0" anchor="t"/>
          <a:lstStyle/>
          <a:p>
            <a:pPr indent="0" marL="0">
              <a:buNone/>
            </a:pPr>
            <a:r>
              <a:rPr lang="en-US" sz="1000" i="1" dirty="0">
                <a:solidFill>
                  <a:srgbClr val="5B6B76"/>
                </a:solidFill>
                <a:latin typeface="Calibri" pitchFamily="34" charset="0"/>
                <a:ea typeface="Calibri" pitchFamily="34" charset="-122"/>
                <a:cs typeface="Calibri" pitchFamily="34" charset="-120"/>
              </a:rPr>
              <a:t>Adarsh • Siva • Vamsi • Radhakrishna • Vinayak</a:t>
            </a:r>
            <a:endParaRPr lang="en-US" sz="1000" dirty="0"/>
          </a:p>
        </p:txBody>
      </p:sp>
      <p:sp>
        <p:nvSpPr>
          <p:cNvPr id="15" name="Text 13"/>
          <p:cNvSpPr/>
          <p:nvPr/>
        </p:nvSpPr>
        <p:spPr>
          <a:xfrm>
            <a:off x="4572000" y="2889504"/>
            <a:ext cx="6858000"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API/UI shell, corpus, retrieval, patient and medical extraction</a:t>
            </a:r>
            <a:endParaRPr lang="en-US" sz="1250" dirty="0"/>
          </a:p>
        </p:txBody>
      </p:sp>
      <p:sp>
        <p:nvSpPr>
          <p:cNvPr id="16" name="Shape 14"/>
          <p:cNvSpPr/>
          <p:nvPr/>
        </p:nvSpPr>
        <p:spPr>
          <a:xfrm>
            <a:off x="548640" y="3986784"/>
            <a:ext cx="11091672" cy="1005840"/>
          </a:xfrm>
          <a:prstGeom prst="roundRect">
            <a:avLst>
              <a:gd name="adj" fmla="val 4545"/>
            </a:avLst>
          </a:prstGeom>
          <a:solidFill>
            <a:srgbClr val="FFFFFF"/>
          </a:solidFill>
          <a:ln w="12700">
            <a:solidFill>
              <a:srgbClr val="D8E0E4"/>
            </a:solidFill>
            <a:prstDash val="solid"/>
          </a:ln>
        </p:spPr>
      </p:sp>
      <p:sp>
        <p:nvSpPr>
          <p:cNvPr id="17" name="Shape 15"/>
          <p:cNvSpPr/>
          <p:nvPr/>
        </p:nvSpPr>
        <p:spPr>
          <a:xfrm>
            <a:off x="777240" y="4142232"/>
            <a:ext cx="694944" cy="694944"/>
          </a:xfrm>
          <a:prstGeom prst="ellipse">
            <a:avLst/>
          </a:prstGeom>
          <a:solidFill>
            <a:srgbClr val="5B3A7A"/>
          </a:solidFill>
          <a:ln/>
        </p:spPr>
      </p:sp>
      <p:sp>
        <p:nvSpPr>
          <p:cNvPr id="18" name="Text 16"/>
          <p:cNvSpPr/>
          <p:nvPr/>
        </p:nvSpPr>
        <p:spPr>
          <a:xfrm>
            <a:off x="777240" y="4142232"/>
            <a:ext cx="694944" cy="694944"/>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1691640" y="4059936"/>
            <a:ext cx="2743200" cy="411480"/>
          </a:xfrm>
          <a:prstGeom prst="rect">
            <a:avLst/>
          </a:prstGeom>
          <a:noFill/>
          <a:ln/>
        </p:spPr>
        <p:txBody>
          <a:bodyPr wrap="square" rtlCol="0" anchor="ctr"/>
          <a:lstStyle/>
          <a:p>
            <a:pPr indent="0" marL="0">
              <a:buNone/>
            </a:pPr>
            <a:r>
              <a:rPr lang="en-US" sz="1500" b="1" dirty="0">
                <a:solidFill>
                  <a:srgbClr val="0B3142"/>
                </a:solidFill>
                <a:latin typeface="Cambria" pitchFamily="34" charset="0"/>
                <a:ea typeface="Cambria" pitchFamily="34" charset="-122"/>
                <a:cs typeface="Cambria" pitchFamily="34" charset="-120"/>
              </a:rPr>
              <a:t>Generation</a:t>
            </a:r>
            <a:endParaRPr lang="en-US" sz="1500" dirty="0"/>
          </a:p>
        </p:txBody>
      </p:sp>
      <p:sp>
        <p:nvSpPr>
          <p:cNvPr id="20" name="Text 18"/>
          <p:cNvSpPr/>
          <p:nvPr/>
        </p:nvSpPr>
        <p:spPr>
          <a:xfrm>
            <a:off x="1691640" y="4443984"/>
            <a:ext cx="2743200" cy="457200"/>
          </a:xfrm>
          <a:prstGeom prst="rect">
            <a:avLst/>
          </a:prstGeom>
          <a:noFill/>
          <a:ln/>
        </p:spPr>
        <p:txBody>
          <a:bodyPr wrap="square" rtlCol="0" anchor="t"/>
          <a:lstStyle/>
          <a:p>
            <a:pPr indent="0" marL="0">
              <a:buNone/>
            </a:pPr>
            <a:r>
              <a:rPr lang="en-US" sz="1000" i="1" dirty="0">
                <a:solidFill>
                  <a:srgbClr val="5B6B76"/>
                </a:solidFill>
                <a:latin typeface="Calibri" pitchFamily="34" charset="0"/>
                <a:ea typeface="Calibri" pitchFamily="34" charset="-122"/>
                <a:cs typeface="Calibri" pitchFamily="34" charset="-120"/>
              </a:rPr>
              <a:t>Sneha • Lakshmi</a:t>
            </a:r>
            <a:endParaRPr lang="en-US" sz="1000" dirty="0"/>
          </a:p>
        </p:txBody>
      </p:sp>
      <p:sp>
        <p:nvSpPr>
          <p:cNvPr id="21" name="Text 19"/>
          <p:cNvSpPr/>
          <p:nvPr/>
        </p:nvSpPr>
        <p:spPr>
          <a:xfrm>
            <a:off x="4572000" y="4059936"/>
            <a:ext cx="6858000"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Grounded SOAP summary and cited recommendations</a:t>
            </a:r>
            <a:endParaRPr lang="en-US" sz="1250" dirty="0"/>
          </a:p>
        </p:txBody>
      </p:sp>
      <p:sp>
        <p:nvSpPr>
          <p:cNvPr id="22" name="Shape 20"/>
          <p:cNvSpPr/>
          <p:nvPr/>
        </p:nvSpPr>
        <p:spPr>
          <a:xfrm>
            <a:off x="548640" y="5157216"/>
            <a:ext cx="11091672" cy="1005840"/>
          </a:xfrm>
          <a:prstGeom prst="roundRect">
            <a:avLst>
              <a:gd name="adj" fmla="val 4545"/>
            </a:avLst>
          </a:prstGeom>
          <a:solidFill>
            <a:srgbClr val="FFFFFF"/>
          </a:solidFill>
          <a:ln w="12700">
            <a:solidFill>
              <a:srgbClr val="D8E0E4"/>
            </a:solidFill>
            <a:prstDash val="solid"/>
          </a:ln>
        </p:spPr>
      </p:sp>
      <p:sp>
        <p:nvSpPr>
          <p:cNvPr id="23" name="Shape 21"/>
          <p:cNvSpPr/>
          <p:nvPr/>
        </p:nvSpPr>
        <p:spPr>
          <a:xfrm>
            <a:off x="777240" y="5312664"/>
            <a:ext cx="694944" cy="694944"/>
          </a:xfrm>
          <a:prstGeom prst="ellipse">
            <a:avLst/>
          </a:prstGeom>
          <a:solidFill>
            <a:srgbClr val="4C5B78"/>
          </a:solidFill>
          <a:ln/>
        </p:spPr>
      </p:sp>
      <p:sp>
        <p:nvSpPr>
          <p:cNvPr id="24" name="Text 22"/>
          <p:cNvSpPr/>
          <p:nvPr/>
        </p:nvSpPr>
        <p:spPr>
          <a:xfrm>
            <a:off x="777240" y="5312664"/>
            <a:ext cx="694944" cy="694944"/>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4–6</a:t>
            </a:r>
            <a:endParaRPr lang="en-US" sz="1500" dirty="0"/>
          </a:p>
        </p:txBody>
      </p:sp>
      <p:sp>
        <p:nvSpPr>
          <p:cNvPr id="25" name="Text 23"/>
          <p:cNvSpPr/>
          <p:nvPr/>
        </p:nvSpPr>
        <p:spPr>
          <a:xfrm>
            <a:off x="1691640" y="5230368"/>
            <a:ext cx="2743200" cy="411480"/>
          </a:xfrm>
          <a:prstGeom prst="rect">
            <a:avLst/>
          </a:prstGeom>
          <a:noFill/>
          <a:ln/>
        </p:spPr>
        <p:txBody>
          <a:bodyPr wrap="square" rtlCol="0" anchor="ctr"/>
          <a:lstStyle/>
          <a:p>
            <a:pPr indent="0" marL="0">
              <a:buNone/>
            </a:pPr>
            <a:r>
              <a:rPr lang="en-US" sz="1500" b="1" dirty="0">
                <a:solidFill>
                  <a:srgbClr val="0B3142"/>
                </a:solidFill>
                <a:latin typeface="Cambria" pitchFamily="34" charset="0"/>
                <a:ea typeface="Cambria" pitchFamily="34" charset="-122"/>
                <a:cs typeface="Cambria" pitchFamily="34" charset="-120"/>
              </a:rPr>
              <a:t>Integration + safety</a:t>
            </a:r>
            <a:endParaRPr lang="en-US" sz="1500" dirty="0"/>
          </a:p>
        </p:txBody>
      </p:sp>
      <p:sp>
        <p:nvSpPr>
          <p:cNvPr id="26" name="Text 24"/>
          <p:cNvSpPr/>
          <p:nvPr/>
        </p:nvSpPr>
        <p:spPr>
          <a:xfrm>
            <a:off x="1691640" y="5614416"/>
            <a:ext cx="2743200" cy="457200"/>
          </a:xfrm>
          <a:prstGeom prst="rect">
            <a:avLst/>
          </a:prstGeom>
          <a:noFill/>
          <a:ln/>
        </p:spPr>
        <p:txBody>
          <a:bodyPr wrap="square" rtlCol="0" anchor="t"/>
          <a:lstStyle/>
          <a:p>
            <a:pPr indent="0" marL="0">
              <a:buNone/>
            </a:pPr>
            <a:r>
              <a:rPr lang="en-US" sz="1000" i="1" dirty="0">
                <a:solidFill>
                  <a:srgbClr val="5B6B76"/>
                </a:solidFill>
                <a:latin typeface="Calibri" pitchFamily="34" charset="0"/>
                <a:ea typeface="Calibri" pitchFamily="34" charset="-122"/>
                <a:cs typeface="Calibri" pitchFamily="34" charset="-120"/>
              </a:rPr>
              <a:t>Turjoy + Adarsh</a:t>
            </a:r>
            <a:endParaRPr lang="en-US" sz="1000" dirty="0"/>
          </a:p>
        </p:txBody>
      </p:sp>
      <p:sp>
        <p:nvSpPr>
          <p:cNvPr id="27" name="Text 25"/>
          <p:cNvSpPr/>
          <p:nvPr/>
        </p:nvSpPr>
        <p:spPr>
          <a:xfrm>
            <a:off x="4572000" y="5230368"/>
            <a:ext cx="6858000"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Real graph wiring, HITL pause/resume, safety, observability, persistence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algn="l" indent="0" marL="0">
              <a:buNone/>
            </a:pPr>
            <a:r>
              <a:rPr lang="en-US" sz="2800" b="1" dirty="0">
                <a:solidFill>
                  <a:srgbClr val="0B3142"/>
                </a:solidFill>
                <a:latin typeface="Cambria" pitchFamily="34" charset="0"/>
                <a:ea typeface="Cambria" pitchFamily="34" charset="-122"/>
                <a:cs typeface="Cambria" pitchFamily="34" charset="-120"/>
              </a:rPr>
              <a:t>Core platform, safety and user experience</a:t>
            </a:r>
            <a:endParaRPr lang="en-US" sz="2800" dirty="0"/>
          </a:p>
        </p:txBody>
      </p:sp>
      <p:sp>
        <p:nvSpPr>
          <p:cNvPr id="3" name="Text 1"/>
          <p:cNvSpPr/>
          <p:nvPr/>
        </p:nvSpPr>
        <p:spPr>
          <a:xfrm>
            <a:off x="548640" y="932688"/>
            <a:ext cx="11091672" cy="365760"/>
          </a:xfrm>
          <a:prstGeom prst="rect">
            <a:avLst/>
          </a:prstGeom>
          <a:noFill/>
          <a:ln/>
        </p:spPr>
        <p:txBody>
          <a:bodyPr wrap="square" rtlCol="0" anchor="ctr"/>
          <a:lstStyle/>
          <a:p>
            <a:pPr algn="l" indent="0" marL="0">
              <a:buNone/>
            </a:pPr>
            <a:r>
              <a:rPr lang="en-US" sz="1300" i="1" dirty="0">
                <a:solidFill>
                  <a:srgbClr val="5B6B76"/>
                </a:solidFill>
                <a:latin typeface="Calibri" pitchFamily="34" charset="0"/>
                <a:ea typeface="Calibri" pitchFamily="34" charset="-122"/>
                <a:cs typeface="Calibri" pitchFamily="34" charset="-120"/>
              </a:rPr>
              <a:t>Two owners made the multi-agent workflow operational and reviewable.</a:t>
            </a:r>
            <a:endParaRPr lang="en-US" sz="1300" dirty="0"/>
          </a:p>
        </p:txBody>
      </p:sp>
      <p:sp>
        <p:nvSpPr>
          <p:cNvPr id="4" name="Shape 2"/>
          <p:cNvSpPr/>
          <p:nvPr/>
        </p:nvSpPr>
        <p:spPr>
          <a:xfrm>
            <a:off x="548640" y="1600200"/>
            <a:ext cx="5120640" cy="4709160"/>
          </a:xfrm>
          <a:prstGeom prst="roundRect">
            <a:avLst>
              <a:gd name="adj" fmla="val 1165"/>
            </a:avLst>
          </a:prstGeom>
          <a:solidFill>
            <a:srgbClr val="F7F9FA"/>
          </a:solidFill>
          <a:ln w="12700">
            <a:solidFill>
              <a:srgbClr val="D8E0E4"/>
            </a:solidFill>
            <a:prstDash val="solid"/>
          </a:ln>
          <a:effectLst>
            <a:outerShdw sx="100000" sy="100000" kx="0" ky="0" algn="bl" rotWithShape="0" blurRad="76200" dist="25400" dir="5400000">
              <a:srgbClr val="000000">
                <a:alpha val="10000"/>
              </a:srgbClr>
            </a:outerShdw>
          </a:effectLst>
        </p:spPr>
      </p:sp>
      <p:sp>
        <p:nvSpPr>
          <p:cNvPr id="5" name="Shape 3"/>
          <p:cNvSpPr/>
          <p:nvPr/>
        </p:nvSpPr>
        <p:spPr>
          <a:xfrm>
            <a:off x="868680" y="1892808"/>
            <a:ext cx="566928" cy="566928"/>
          </a:xfrm>
          <a:prstGeom prst="ellipse">
            <a:avLst/>
          </a:prstGeom>
          <a:solidFill>
            <a:srgbClr val="0B3142"/>
          </a:solidFill>
          <a:ln/>
        </p:spPr>
      </p:sp>
      <p:sp>
        <p:nvSpPr>
          <p:cNvPr id="6" name="Text 4"/>
          <p:cNvSpPr/>
          <p:nvPr/>
        </p:nvSpPr>
        <p:spPr>
          <a:xfrm>
            <a:off x="868680" y="1892808"/>
            <a:ext cx="566928" cy="56692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TS</a:t>
            </a:r>
            <a:endParaRPr lang="en-US" sz="1500" dirty="0"/>
          </a:p>
        </p:txBody>
      </p:sp>
      <p:sp>
        <p:nvSpPr>
          <p:cNvPr id="7" name="Text 5"/>
          <p:cNvSpPr/>
          <p:nvPr/>
        </p:nvSpPr>
        <p:spPr>
          <a:xfrm>
            <a:off x="1554480" y="1828800"/>
            <a:ext cx="3840480" cy="384048"/>
          </a:xfrm>
          <a:prstGeom prst="rect">
            <a:avLst/>
          </a:prstGeom>
          <a:noFill/>
          <a:ln/>
        </p:spPr>
        <p:txBody>
          <a:bodyPr wrap="square" rtlCol="0" anchor="ctr"/>
          <a:lstStyle/>
          <a:p>
            <a:pPr indent="0" marL="0">
              <a:buNone/>
            </a:pPr>
            <a:r>
              <a:rPr lang="en-US" sz="1600" b="1" dirty="0">
                <a:solidFill>
                  <a:srgbClr val="0B3142"/>
                </a:solidFill>
                <a:latin typeface="Cambria" pitchFamily="34" charset="0"/>
                <a:ea typeface="Cambria" pitchFamily="34" charset="-122"/>
                <a:cs typeface="Cambria" pitchFamily="34" charset="-120"/>
              </a:rPr>
              <a:t>Turjoy Saha</a:t>
            </a:r>
            <a:endParaRPr lang="en-US" sz="1600" dirty="0"/>
          </a:p>
        </p:txBody>
      </p:sp>
      <p:sp>
        <p:nvSpPr>
          <p:cNvPr id="8" name="Text 6"/>
          <p:cNvSpPr/>
          <p:nvPr/>
        </p:nvSpPr>
        <p:spPr>
          <a:xfrm>
            <a:off x="1554480" y="2194560"/>
            <a:ext cx="3840480" cy="365760"/>
          </a:xfrm>
          <a:prstGeom prst="rect">
            <a:avLst/>
          </a:prstGeom>
          <a:noFill/>
          <a:ln/>
        </p:spPr>
        <p:txBody>
          <a:bodyPr wrap="square" rtlCol="0" anchor="t"/>
          <a:lstStyle/>
          <a:p>
            <a:pPr indent="0" marL="0">
              <a:buNone/>
            </a:pPr>
            <a:r>
              <a:rPr lang="en-US" sz="1050" i="1" dirty="0">
                <a:solidFill>
                  <a:srgbClr val="5B6B76"/>
                </a:solidFill>
                <a:latin typeface="Calibri" pitchFamily="34" charset="0"/>
                <a:ea typeface="Calibri" pitchFamily="34" charset="-122"/>
                <a:cs typeface="Calibri" pitchFamily="34" charset="-120"/>
              </a:rPr>
              <a:t>Orchestration • HITL • Safety • LLM fallback</a:t>
            </a:r>
            <a:endParaRPr lang="en-US" sz="1050" dirty="0"/>
          </a:p>
        </p:txBody>
      </p:sp>
      <p:sp>
        <p:nvSpPr>
          <p:cNvPr id="9" name="Text 7"/>
          <p:cNvSpPr/>
          <p:nvPr/>
        </p:nvSpPr>
        <p:spPr>
          <a:xfrm>
            <a:off x="914400" y="2743200"/>
            <a:ext cx="4389120" cy="3337560"/>
          </a:xfrm>
          <a:prstGeom prst="rect">
            <a:avLst/>
          </a:prstGeom>
          <a:noFill/>
          <a:ln/>
        </p:spPr>
        <p:txBody>
          <a:bodyPr wrap="square" lIns="0" tIns="0" rIns="0" bIns="0" rtlCol="0" anchor="t"/>
          <a:lstStyle/>
          <a:p>
            <a:pPr marL="203200" indent="-203200">
              <a:spcAft>
                <a:spcPts val="1000"/>
              </a:spcAft>
              <a:buSzPct val="100000"/>
              <a:buChar char="•"/>
            </a:pPr>
            <a:r>
              <a:rPr lang="en-US" sz="1100" dirty="0">
                <a:solidFill>
                  <a:srgbClr val="1A1A1A"/>
                </a:solidFill>
                <a:latin typeface="Calibri" pitchFamily="34" charset="0"/>
                <a:ea typeface="Calibri" pitchFamily="34" charset="-122"/>
                <a:cs typeface="Calibri" pitchFamily="34" charset="-120"/>
              </a:rPr>
              <a:t>Established repo, contracts, synthetic case library and graph state</a:t>
            </a:r>
            <a:endParaRPr lang="en-US" sz="1100" dirty="0"/>
          </a:p>
          <a:p>
            <a:pPr marL="203200" indent="-203200">
              <a:spcAft>
                <a:spcPts val="1000"/>
              </a:spcAft>
              <a:buSzPct val="100000"/>
              <a:buChar char="•"/>
            </a:pPr>
            <a:r>
              <a:rPr lang="en-US" sz="1100" dirty="0">
                <a:solidFill>
                  <a:srgbClr val="1A1A1A"/>
                </a:solidFill>
                <a:latin typeface="Calibri" pitchFamily="34" charset="0"/>
                <a:ea typeface="Calibri" pitchFamily="34" charset="-122"/>
                <a:cs typeface="Calibri" pitchFamily="34" charset="-120"/>
              </a:rPr>
              <a:t>Built LangGraph StateGraph with parallel analysis, labs and RAG fan-out</a:t>
            </a:r>
            <a:endParaRPr lang="en-US" sz="1100" dirty="0"/>
          </a:p>
          <a:p>
            <a:pPr marL="203200" indent="-203200">
              <a:spcAft>
                <a:spcPts val="1000"/>
              </a:spcAft>
              <a:buSzPct val="100000"/>
              <a:buChar char="•"/>
            </a:pPr>
            <a:r>
              <a:rPr lang="en-US" sz="1100" dirty="0">
                <a:solidFill>
                  <a:srgbClr val="1A1A1A"/>
                </a:solidFill>
                <a:latin typeface="Calibri" pitchFamily="34" charset="0"/>
                <a:ea typeface="Calibri" pitchFamily="34" charset="-122"/>
                <a:cs typeface="Calibri" pitchFamily="34" charset="-120"/>
              </a:rPr>
              <a:t>Implemented OpenAI → Gemini → mock fallback for resilient execution</a:t>
            </a:r>
            <a:endParaRPr lang="en-US" sz="1100" dirty="0"/>
          </a:p>
          <a:p>
            <a:pPr marL="203200" indent="-203200">
              <a:spcAft>
                <a:spcPts val="1000"/>
              </a:spcAft>
              <a:buSzPct val="100000"/>
              <a:buChar char="•"/>
            </a:pPr>
            <a:r>
              <a:rPr lang="en-US" sz="1100" dirty="0">
                <a:solidFill>
                  <a:srgbClr val="1A1A1A"/>
                </a:solidFill>
                <a:latin typeface="Calibri" pitchFamily="34" charset="0"/>
                <a:ea typeface="Calibri" pitchFamily="34" charset="-122"/>
                <a:cs typeface="Calibri" pitchFamily="34" charset="-120"/>
              </a:rPr>
              <a:t>Owned real HITL pause/resume, reject/revise loop and fail-closed safety</a:t>
            </a:r>
            <a:endParaRPr lang="en-US" sz="1100" dirty="0"/>
          </a:p>
          <a:p>
            <a:pPr marL="203200" indent="-203200">
              <a:spcAft>
                <a:spcPts val="1000"/>
              </a:spcAft>
              <a:buSzPct val="100000"/>
              <a:buChar char="•"/>
            </a:pPr>
            <a:r>
              <a:rPr lang="en-US" sz="1100" dirty="0">
                <a:solidFill>
                  <a:srgbClr val="1A1A1A"/>
                </a:solidFill>
                <a:latin typeface="Calibri" pitchFamily="34" charset="0"/>
                <a:ea typeface="Calibri" pitchFamily="34" charset="-122"/>
                <a:cs typeface="Calibri" pitchFamily="34" charset="-120"/>
              </a:rPr>
              <a:t>Integrated teammate functions; added observability, memory chat, tests and Docker/demo flow</a:t>
            </a:r>
            <a:endParaRPr lang="en-US" sz="1100" dirty="0"/>
          </a:p>
        </p:txBody>
      </p:sp>
      <p:sp>
        <p:nvSpPr>
          <p:cNvPr id="10" name="Shape 8"/>
          <p:cNvSpPr/>
          <p:nvPr/>
        </p:nvSpPr>
        <p:spPr>
          <a:xfrm>
            <a:off x="6126480" y="1600200"/>
            <a:ext cx="5120640" cy="4709160"/>
          </a:xfrm>
          <a:prstGeom prst="roundRect">
            <a:avLst>
              <a:gd name="adj" fmla="val 1165"/>
            </a:avLst>
          </a:prstGeom>
          <a:solidFill>
            <a:srgbClr val="F7F9FA"/>
          </a:solidFill>
          <a:ln w="12700">
            <a:solidFill>
              <a:srgbClr val="D8E0E4"/>
            </a:solidFill>
            <a:prstDash val="solid"/>
          </a:ln>
          <a:effectLst>
            <a:outerShdw sx="100000" sy="100000" kx="0" ky="0" algn="bl" rotWithShape="0" blurRad="76200" dist="25400" dir="5400000">
              <a:srgbClr val="000000">
                <a:alpha val="10000"/>
              </a:srgbClr>
            </a:outerShdw>
          </a:effectLst>
        </p:spPr>
      </p:sp>
      <p:sp>
        <p:nvSpPr>
          <p:cNvPr id="11" name="Shape 9"/>
          <p:cNvSpPr/>
          <p:nvPr/>
        </p:nvSpPr>
        <p:spPr>
          <a:xfrm>
            <a:off x="6446520" y="1892808"/>
            <a:ext cx="566928" cy="566928"/>
          </a:xfrm>
          <a:prstGeom prst="ellipse">
            <a:avLst/>
          </a:prstGeom>
          <a:solidFill>
            <a:srgbClr val="028090"/>
          </a:solidFill>
          <a:ln/>
        </p:spPr>
      </p:sp>
      <p:sp>
        <p:nvSpPr>
          <p:cNvPr id="12" name="Text 10"/>
          <p:cNvSpPr/>
          <p:nvPr/>
        </p:nvSpPr>
        <p:spPr>
          <a:xfrm>
            <a:off x="6446520" y="1892808"/>
            <a:ext cx="566928" cy="56692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3" name="Text 11"/>
          <p:cNvSpPr/>
          <p:nvPr/>
        </p:nvSpPr>
        <p:spPr>
          <a:xfrm>
            <a:off x="7132320" y="1828800"/>
            <a:ext cx="3840480" cy="384048"/>
          </a:xfrm>
          <a:prstGeom prst="rect">
            <a:avLst/>
          </a:prstGeom>
          <a:noFill/>
          <a:ln/>
        </p:spPr>
        <p:txBody>
          <a:bodyPr wrap="square" rtlCol="0" anchor="ctr"/>
          <a:lstStyle/>
          <a:p>
            <a:pPr indent="0" marL="0">
              <a:buNone/>
            </a:pPr>
            <a:r>
              <a:rPr lang="en-US" sz="1600" b="1" dirty="0">
                <a:solidFill>
                  <a:srgbClr val="0B3142"/>
                </a:solidFill>
                <a:latin typeface="Cambria" pitchFamily="34" charset="0"/>
                <a:ea typeface="Cambria" pitchFamily="34" charset="-122"/>
                <a:cs typeface="Cambria" pitchFamily="34" charset="-120"/>
              </a:rPr>
              <a:t>Adarsh</a:t>
            </a:r>
            <a:endParaRPr lang="en-US" sz="1600" dirty="0"/>
          </a:p>
        </p:txBody>
      </p:sp>
      <p:sp>
        <p:nvSpPr>
          <p:cNvPr id="14" name="Text 12"/>
          <p:cNvSpPr/>
          <p:nvPr/>
        </p:nvSpPr>
        <p:spPr>
          <a:xfrm>
            <a:off x="7132320" y="2194560"/>
            <a:ext cx="3840480" cy="365760"/>
          </a:xfrm>
          <a:prstGeom prst="rect">
            <a:avLst/>
          </a:prstGeom>
          <a:noFill/>
          <a:ln/>
        </p:spPr>
        <p:txBody>
          <a:bodyPr wrap="square" rtlCol="0" anchor="t"/>
          <a:lstStyle/>
          <a:p>
            <a:pPr indent="0" marL="0">
              <a:buNone/>
            </a:pPr>
            <a:r>
              <a:rPr lang="en-US" sz="1050" i="1" dirty="0">
                <a:solidFill>
                  <a:srgbClr val="5B6B76"/>
                </a:solidFill>
                <a:latin typeface="Calibri" pitchFamily="34" charset="0"/>
                <a:ea typeface="Calibri" pitchFamily="34" charset="-122"/>
                <a:cs typeface="Calibri" pitchFamily="34" charset="-120"/>
              </a:rPr>
              <a:t>FastAPI • Persistence • React HITL experience</a:t>
            </a:r>
            <a:endParaRPr lang="en-US" sz="1050" dirty="0"/>
          </a:p>
        </p:txBody>
      </p:sp>
      <p:sp>
        <p:nvSpPr>
          <p:cNvPr id="15" name="Text 13"/>
          <p:cNvSpPr/>
          <p:nvPr/>
        </p:nvSpPr>
        <p:spPr>
          <a:xfrm>
            <a:off x="6492240" y="2743200"/>
            <a:ext cx="4389120" cy="3337560"/>
          </a:xfrm>
          <a:prstGeom prst="rect">
            <a:avLst/>
          </a:prstGeom>
          <a:noFill/>
          <a:ln/>
        </p:spPr>
        <p:txBody>
          <a:bodyPr wrap="square" lIns="0" tIns="0" rIns="0" bIns="0" rtlCol="0" anchor="t"/>
          <a:lstStyle/>
          <a:p>
            <a:pPr marL="203200" indent="-203200">
              <a:spcAft>
                <a:spcPts val="1000"/>
              </a:spcAft>
              <a:buSzPct val="100000"/>
              <a:buChar char="•"/>
            </a:pPr>
            <a:r>
              <a:rPr lang="en-US" sz="1100" dirty="0">
                <a:solidFill>
                  <a:srgbClr val="1A1A1A"/>
                </a:solidFill>
                <a:latin typeface="Calibri" pitchFamily="34" charset="0"/>
                <a:ea typeface="Calibri" pitchFamily="34" charset="-122"/>
                <a:cs typeface="Calibri" pitchFamily="34" charset="-120"/>
              </a:rPr>
              <a:t>Built FastAPI routes and persistent run/case store</a:t>
            </a:r>
            <a:endParaRPr lang="en-US" sz="1100" dirty="0"/>
          </a:p>
          <a:p>
            <a:pPr marL="203200" indent="-203200">
              <a:spcAft>
                <a:spcPts val="1000"/>
              </a:spcAft>
              <a:buSzPct val="100000"/>
              <a:buChar char="•"/>
            </a:pPr>
            <a:r>
              <a:rPr lang="en-US" sz="1100" dirty="0">
                <a:solidFill>
                  <a:srgbClr val="1A1A1A"/>
                </a:solidFill>
                <a:latin typeface="Calibri" pitchFamily="34" charset="0"/>
                <a:ea typeface="Calibri" pitchFamily="34" charset="-122"/>
                <a:cs typeface="Calibri" pitchFamily="34" charset="-120"/>
              </a:rPr>
              <a:t>Created React app shell, case library and workspace for text/file/case input</a:t>
            </a:r>
            <a:endParaRPr lang="en-US" sz="1100" dirty="0"/>
          </a:p>
          <a:p>
            <a:pPr marL="203200" indent="-203200">
              <a:spcAft>
                <a:spcPts val="1000"/>
              </a:spcAft>
              <a:buSzPct val="100000"/>
              <a:buChar char="•"/>
            </a:pPr>
            <a:r>
              <a:rPr lang="en-US" sz="1100" dirty="0">
                <a:solidFill>
                  <a:srgbClr val="1A1A1A"/>
                </a:solidFill>
                <a:latin typeface="Calibri" pitchFamily="34" charset="0"/>
                <a:ea typeface="Calibri" pitchFamily="34" charset="-122"/>
                <a:cs typeface="Calibri" pitchFamily="34" charset="-120"/>
              </a:rPr>
              <a:t>Streamed graph events into the agent timeline and restored runs on refresh</a:t>
            </a:r>
            <a:endParaRPr lang="en-US" sz="1100" dirty="0"/>
          </a:p>
          <a:p>
            <a:pPr marL="203200" indent="-203200">
              <a:spcAft>
                <a:spcPts val="1000"/>
              </a:spcAft>
              <a:buSzPct val="100000"/>
              <a:buChar char="•"/>
            </a:pPr>
            <a:r>
              <a:rPr lang="en-US" sz="1100" dirty="0">
                <a:solidFill>
                  <a:srgbClr val="1A1A1A"/>
                </a:solidFill>
                <a:latin typeface="Calibri" pitchFamily="34" charset="0"/>
                <a:ea typeface="Calibri" pitchFamily="34" charset="-122"/>
                <a:cs typeface="Calibri" pitchFamily="34" charset="-120"/>
              </a:rPr>
              <a:t>Built HITL drawer for Approve, Save edits and Reject against the real graph state</a:t>
            </a:r>
            <a:endParaRPr lang="en-US" sz="1100" dirty="0"/>
          </a:p>
          <a:p>
            <a:pPr marL="203200" indent="-203200">
              <a:spcAft>
                <a:spcPts val="1000"/>
              </a:spcAft>
              <a:buSzPct val="100000"/>
              <a:buChar char="•"/>
            </a:pPr>
            <a:r>
              <a:rPr lang="en-US" sz="1100" dirty="0">
                <a:solidFill>
                  <a:srgbClr val="1A1A1A"/>
                </a:solidFill>
                <a:latin typeface="Calibri" pitchFamily="34" charset="0"/>
                <a:ea typeface="Calibri" pitchFamily="34" charset="-122"/>
                <a:cs typeface="Calibri" pitchFamily="34" charset="-120"/>
              </a:rPr>
              <a:t>Added labs, chat integration, health states, accessibility and demo polish</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algn="l" indent="0" marL="0">
              <a:buNone/>
            </a:pPr>
            <a:r>
              <a:rPr lang="en-US" sz="2800" b="1" dirty="0">
                <a:solidFill>
                  <a:srgbClr val="0B3142"/>
                </a:solidFill>
                <a:latin typeface="Cambria" pitchFamily="34" charset="0"/>
                <a:ea typeface="Cambria" pitchFamily="34" charset="-122"/>
                <a:cs typeface="Cambria" pitchFamily="34" charset="-120"/>
              </a:rPr>
              <a:t>RAG and structured extraction</a:t>
            </a:r>
            <a:endParaRPr lang="en-US" sz="2800" dirty="0"/>
          </a:p>
        </p:txBody>
      </p:sp>
      <p:sp>
        <p:nvSpPr>
          <p:cNvPr id="3" name="Text 1"/>
          <p:cNvSpPr/>
          <p:nvPr/>
        </p:nvSpPr>
        <p:spPr>
          <a:xfrm>
            <a:off x="548640" y="932688"/>
            <a:ext cx="11091672" cy="365760"/>
          </a:xfrm>
          <a:prstGeom prst="rect">
            <a:avLst/>
          </a:prstGeom>
          <a:noFill/>
          <a:ln/>
        </p:spPr>
        <p:txBody>
          <a:bodyPr wrap="square" rtlCol="0" anchor="ctr"/>
          <a:lstStyle/>
          <a:p>
            <a:pPr algn="l" indent="0" marL="0">
              <a:buNone/>
            </a:pPr>
            <a:r>
              <a:rPr lang="en-US" sz="1300" i="1" dirty="0">
                <a:solidFill>
                  <a:srgbClr val="5B6B76"/>
                </a:solidFill>
                <a:latin typeface="Calibri" pitchFamily="34" charset="0"/>
                <a:ea typeface="Calibri" pitchFamily="34" charset="-122"/>
                <a:cs typeface="Calibri" pitchFamily="34" charset="-120"/>
              </a:rPr>
              <a:t>Four contributors prepared reliable evidence and structured inputs for the graph.</a:t>
            </a:r>
            <a:endParaRPr lang="en-US" sz="1300" dirty="0"/>
          </a:p>
        </p:txBody>
      </p:sp>
      <p:sp>
        <p:nvSpPr>
          <p:cNvPr id="4" name="Shape 2"/>
          <p:cNvSpPr/>
          <p:nvPr/>
        </p:nvSpPr>
        <p:spPr>
          <a:xfrm>
            <a:off x="457200" y="1600200"/>
            <a:ext cx="2606040" cy="4709160"/>
          </a:xfrm>
          <a:prstGeom prst="roundRect">
            <a:avLst>
              <a:gd name="adj" fmla="val 1754"/>
            </a:avLst>
          </a:prstGeom>
          <a:solidFill>
            <a:srgbClr val="FFFFFF"/>
          </a:solidFill>
          <a:ln w="12700">
            <a:solidFill>
              <a:srgbClr val="D8E0E4"/>
            </a:solidFill>
            <a:prstDash val="solid"/>
          </a:ln>
        </p:spPr>
      </p:sp>
      <p:sp>
        <p:nvSpPr>
          <p:cNvPr id="5" name="Shape 3"/>
          <p:cNvSpPr/>
          <p:nvPr/>
        </p:nvSpPr>
        <p:spPr>
          <a:xfrm>
            <a:off x="640080" y="1783080"/>
            <a:ext cx="475488" cy="475488"/>
          </a:xfrm>
          <a:prstGeom prst="ellipse">
            <a:avLst/>
          </a:prstGeom>
          <a:solidFill>
            <a:srgbClr val="028090"/>
          </a:solidFill>
          <a:ln/>
        </p:spPr>
      </p:sp>
      <p:sp>
        <p:nvSpPr>
          <p:cNvPr id="6" name="Text 4"/>
          <p:cNvSpPr/>
          <p:nvPr/>
        </p:nvSpPr>
        <p:spPr>
          <a:xfrm>
            <a:off x="640080" y="1783080"/>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a:t>
            </a:r>
            <a:endParaRPr lang="en-US" sz="1500" dirty="0"/>
          </a:p>
        </p:txBody>
      </p:sp>
      <p:sp>
        <p:nvSpPr>
          <p:cNvPr id="7" name="Text 5"/>
          <p:cNvSpPr/>
          <p:nvPr/>
        </p:nvSpPr>
        <p:spPr>
          <a:xfrm>
            <a:off x="594360" y="2331720"/>
            <a:ext cx="2331720" cy="365760"/>
          </a:xfrm>
          <a:prstGeom prst="rect">
            <a:avLst/>
          </a:prstGeom>
          <a:noFill/>
          <a:ln/>
        </p:spPr>
        <p:txBody>
          <a:bodyPr wrap="square" rtlCol="0" anchor="ctr"/>
          <a:lstStyle/>
          <a:p>
            <a:pPr algn="l" indent="0" marL="0">
              <a:buNone/>
            </a:pPr>
            <a:r>
              <a:rPr lang="en-US" sz="1350" b="1" dirty="0">
                <a:solidFill>
                  <a:srgbClr val="0B3142"/>
                </a:solidFill>
                <a:latin typeface="Cambria" pitchFamily="34" charset="0"/>
                <a:ea typeface="Cambria" pitchFamily="34" charset="-122"/>
                <a:cs typeface="Cambria" pitchFamily="34" charset="-120"/>
              </a:rPr>
              <a:t>Siva</a:t>
            </a:r>
            <a:endParaRPr lang="en-US" sz="1350" dirty="0"/>
          </a:p>
        </p:txBody>
      </p:sp>
      <p:sp>
        <p:nvSpPr>
          <p:cNvPr id="8" name="Text 6"/>
          <p:cNvSpPr/>
          <p:nvPr/>
        </p:nvSpPr>
        <p:spPr>
          <a:xfrm>
            <a:off x="594360" y="2660904"/>
            <a:ext cx="2331720" cy="502920"/>
          </a:xfrm>
          <a:prstGeom prst="rect">
            <a:avLst/>
          </a:prstGeom>
          <a:noFill/>
          <a:ln/>
        </p:spPr>
        <p:txBody>
          <a:bodyPr wrap="square" rtlCol="0" anchor="t"/>
          <a:lstStyle/>
          <a:p>
            <a:pPr algn="l" indent="0" marL="0">
              <a:buNone/>
            </a:pPr>
            <a:r>
              <a:rPr lang="en-US" sz="950" i="1" dirty="0">
                <a:solidFill>
                  <a:srgbClr val="5B6B76"/>
                </a:solidFill>
                <a:latin typeface="Calibri" pitchFamily="34" charset="0"/>
                <a:ea typeface="Calibri" pitchFamily="34" charset="-122"/>
                <a:cs typeface="Calibri" pitchFamily="34" charset="-120"/>
              </a:rPr>
              <a:t>RAG corpus + ingest</a:t>
            </a:r>
            <a:endParaRPr lang="en-US" sz="950" dirty="0"/>
          </a:p>
        </p:txBody>
      </p:sp>
      <p:sp>
        <p:nvSpPr>
          <p:cNvPr id="9" name="Text 7"/>
          <p:cNvSpPr/>
          <p:nvPr/>
        </p:nvSpPr>
        <p:spPr>
          <a:xfrm>
            <a:off x="621792" y="3246120"/>
            <a:ext cx="2276856" cy="2880360"/>
          </a:xfrm>
          <a:prstGeom prst="rect">
            <a:avLst/>
          </a:prstGeom>
          <a:noFill/>
          <a:ln/>
        </p:spPr>
        <p:txBody>
          <a:bodyPr wrap="square" lIns="0" tIns="0" rIns="0" bIns="0" rtlCol="0" anchor="t"/>
          <a:lstStyle/>
          <a:p>
            <a:pPr marL="152400" indent="-152400">
              <a:spcAft>
                <a:spcPts val="800"/>
              </a:spcAft>
              <a:buSzPct val="100000"/>
              <a:buChar char="•"/>
            </a:pPr>
            <a:r>
              <a:rPr lang="en-US" sz="930" dirty="0">
                <a:solidFill>
                  <a:srgbClr val="1A1A1A"/>
                </a:solidFill>
                <a:latin typeface="Calibri" pitchFamily="34" charset="0"/>
                <a:ea typeface="Calibri" pitchFamily="34" charset="-122"/>
                <a:cs typeface="Calibri" pitchFamily="34" charset="-120"/>
              </a:rPr>
              <a:t>Authored original educational guideline cards</a:t>
            </a:r>
            <a:endParaRPr lang="en-US" sz="930" dirty="0"/>
          </a:p>
          <a:p>
            <a:pPr marL="152400" indent="-152400">
              <a:spcAft>
                <a:spcPts val="800"/>
              </a:spcAft>
              <a:buSzPct val="100000"/>
              <a:buChar char="•"/>
            </a:pPr>
            <a:r>
              <a:rPr lang="en-US" sz="930" dirty="0">
                <a:solidFill>
                  <a:srgbClr val="1A1A1A"/>
                </a:solidFill>
                <a:latin typeface="Calibri" pitchFamily="34" charset="0"/>
                <a:ea typeface="Calibri" pitchFamily="34" charset="-122"/>
                <a:cs typeface="Calibri" pitchFamily="34" charset="-120"/>
              </a:rPr>
              <a:t>Implemented paragraph chunking into GuidelineChunk models</a:t>
            </a:r>
            <a:endParaRPr lang="en-US" sz="930" dirty="0"/>
          </a:p>
          <a:p>
            <a:pPr marL="152400" indent="-152400">
              <a:spcAft>
                <a:spcPts val="800"/>
              </a:spcAft>
              <a:buSzPct val="100000"/>
              <a:buChar char="•"/>
            </a:pPr>
            <a:r>
              <a:rPr lang="en-US" sz="930" dirty="0">
                <a:solidFill>
                  <a:srgbClr val="1A1A1A"/>
                </a:solidFill>
                <a:latin typeface="Calibri" pitchFamily="34" charset="0"/>
                <a:ea typeface="Calibri" pitchFamily="34" charset="-122"/>
                <a:cs typeface="Calibri" pitchFamily="34" charset="-120"/>
              </a:rPr>
              <a:t>Created idempotent lexical index on disk</a:t>
            </a:r>
            <a:endParaRPr lang="en-US" sz="930" dirty="0"/>
          </a:p>
          <a:p>
            <a:pPr marL="152400" indent="-152400">
              <a:spcAft>
                <a:spcPts val="800"/>
              </a:spcAft>
              <a:buSzPct val="100000"/>
              <a:buChar char="•"/>
            </a:pPr>
            <a:r>
              <a:rPr lang="en-US" sz="930" dirty="0">
                <a:solidFill>
                  <a:srgbClr val="1A1A1A"/>
                </a:solidFill>
                <a:latin typeface="Calibri" pitchFamily="34" charset="0"/>
                <a:ea typeface="Calibri" pitchFamily="34" charset="-122"/>
                <a:cs typeface="Calibri" pitchFamily="34" charset="-120"/>
              </a:rPr>
              <a:t>Published ingest_guideline_corpus() and list_guideline_chunks() with offline tests</a:t>
            </a:r>
            <a:endParaRPr lang="en-US" sz="930" dirty="0"/>
          </a:p>
        </p:txBody>
      </p:sp>
      <p:sp>
        <p:nvSpPr>
          <p:cNvPr id="10" name="Shape 8"/>
          <p:cNvSpPr/>
          <p:nvPr/>
        </p:nvSpPr>
        <p:spPr>
          <a:xfrm>
            <a:off x="3154680" y="1600200"/>
            <a:ext cx="2606040" cy="4709160"/>
          </a:xfrm>
          <a:prstGeom prst="roundRect">
            <a:avLst>
              <a:gd name="adj" fmla="val 1754"/>
            </a:avLst>
          </a:prstGeom>
          <a:solidFill>
            <a:srgbClr val="FFFFFF"/>
          </a:solidFill>
          <a:ln w="12700">
            <a:solidFill>
              <a:srgbClr val="D8E0E4"/>
            </a:solidFill>
            <a:prstDash val="solid"/>
          </a:ln>
        </p:spPr>
      </p:sp>
      <p:sp>
        <p:nvSpPr>
          <p:cNvPr id="11" name="Shape 9"/>
          <p:cNvSpPr/>
          <p:nvPr/>
        </p:nvSpPr>
        <p:spPr>
          <a:xfrm>
            <a:off x="3337560" y="1783080"/>
            <a:ext cx="475488" cy="475488"/>
          </a:xfrm>
          <a:prstGeom prst="ellipse">
            <a:avLst/>
          </a:prstGeom>
          <a:solidFill>
            <a:srgbClr val="028090"/>
          </a:solidFill>
          <a:ln/>
        </p:spPr>
      </p:sp>
      <p:sp>
        <p:nvSpPr>
          <p:cNvPr id="12" name="Text 10"/>
          <p:cNvSpPr/>
          <p:nvPr/>
        </p:nvSpPr>
        <p:spPr>
          <a:xfrm>
            <a:off x="3337560" y="1783080"/>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V</a:t>
            </a:r>
            <a:endParaRPr lang="en-US" sz="1500" dirty="0"/>
          </a:p>
        </p:txBody>
      </p:sp>
      <p:sp>
        <p:nvSpPr>
          <p:cNvPr id="13" name="Text 11"/>
          <p:cNvSpPr/>
          <p:nvPr/>
        </p:nvSpPr>
        <p:spPr>
          <a:xfrm>
            <a:off x="3291840" y="2331720"/>
            <a:ext cx="2331720" cy="365760"/>
          </a:xfrm>
          <a:prstGeom prst="rect">
            <a:avLst/>
          </a:prstGeom>
          <a:noFill/>
          <a:ln/>
        </p:spPr>
        <p:txBody>
          <a:bodyPr wrap="square" rtlCol="0" anchor="ctr"/>
          <a:lstStyle/>
          <a:p>
            <a:pPr algn="l" indent="0" marL="0">
              <a:buNone/>
            </a:pPr>
            <a:r>
              <a:rPr lang="en-US" sz="1350" b="1" dirty="0">
                <a:solidFill>
                  <a:srgbClr val="0B3142"/>
                </a:solidFill>
                <a:latin typeface="Cambria" pitchFamily="34" charset="0"/>
                <a:ea typeface="Cambria" pitchFamily="34" charset="-122"/>
                <a:cs typeface="Cambria" pitchFamily="34" charset="-120"/>
              </a:rPr>
              <a:t>Vamsi</a:t>
            </a:r>
            <a:endParaRPr lang="en-US" sz="1350" dirty="0"/>
          </a:p>
        </p:txBody>
      </p:sp>
      <p:sp>
        <p:nvSpPr>
          <p:cNvPr id="14" name="Text 12"/>
          <p:cNvSpPr/>
          <p:nvPr/>
        </p:nvSpPr>
        <p:spPr>
          <a:xfrm>
            <a:off x="3291840" y="2660904"/>
            <a:ext cx="2331720" cy="502920"/>
          </a:xfrm>
          <a:prstGeom prst="rect">
            <a:avLst/>
          </a:prstGeom>
          <a:noFill/>
          <a:ln/>
        </p:spPr>
        <p:txBody>
          <a:bodyPr wrap="square" rtlCol="0" anchor="t"/>
          <a:lstStyle/>
          <a:p>
            <a:pPr algn="l" indent="0" marL="0">
              <a:buNone/>
            </a:pPr>
            <a:r>
              <a:rPr lang="en-US" sz="950" i="1" dirty="0">
                <a:solidFill>
                  <a:srgbClr val="5B6B76"/>
                </a:solidFill>
                <a:latin typeface="Calibri" pitchFamily="34" charset="0"/>
                <a:ea typeface="Calibri" pitchFamily="34" charset="-122"/>
                <a:cs typeface="Calibri" pitchFamily="34" charset="-120"/>
              </a:rPr>
              <a:t>Embeddings + retrieval</a:t>
            </a:r>
            <a:endParaRPr lang="en-US" sz="950" dirty="0"/>
          </a:p>
        </p:txBody>
      </p:sp>
      <p:sp>
        <p:nvSpPr>
          <p:cNvPr id="15" name="Text 13"/>
          <p:cNvSpPr/>
          <p:nvPr/>
        </p:nvSpPr>
        <p:spPr>
          <a:xfrm>
            <a:off x="3319272" y="3246120"/>
            <a:ext cx="2276856" cy="2880360"/>
          </a:xfrm>
          <a:prstGeom prst="rect">
            <a:avLst/>
          </a:prstGeom>
          <a:noFill/>
          <a:ln/>
        </p:spPr>
        <p:txBody>
          <a:bodyPr wrap="square" lIns="0" tIns="0" rIns="0" bIns="0" rtlCol="0" anchor="t"/>
          <a:lstStyle/>
          <a:p>
            <a:pPr marL="152400" indent="-152400">
              <a:spcAft>
                <a:spcPts val="800"/>
              </a:spcAft>
              <a:buSzPct val="100000"/>
              <a:buChar char="•"/>
            </a:pPr>
            <a:r>
              <a:rPr lang="en-US" sz="930" dirty="0">
                <a:solidFill>
                  <a:srgbClr val="1A1A1A"/>
                </a:solidFill>
                <a:latin typeface="Calibri" pitchFamily="34" charset="0"/>
                <a:ea typeface="Calibri" pitchFamily="34" charset="-122"/>
                <a:cs typeface="Calibri" pitchFamily="34" charset="-120"/>
              </a:rPr>
              <a:t>Built optional OpenAI embedding path with Chroma persistence</a:t>
            </a:r>
            <a:endParaRPr lang="en-US" sz="930" dirty="0"/>
          </a:p>
          <a:p>
            <a:pPr marL="152400" indent="-152400">
              <a:spcAft>
                <a:spcPts val="800"/>
              </a:spcAft>
              <a:buSzPct val="100000"/>
              <a:buChar char="•"/>
            </a:pPr>
            <a:r>
              <a:rPr lang="en-US" sz="930" dirty="0">
                <a:solidFill>
                  <a:srgbClr val="1A1A1A"/>
                </a:solidFill>
                <a:latin typeface="Calibri" pitchFamily="34" charset="0"/>
                <a:ea typeface="Calibri" pitchFamily="34" charset="-122"/>
                <a:cs typeface="Calibri" pitchFamily="34" charset="-120"/>
              </a:rPr>
              <a:t>Kept lexical ranking available without keys or network</a:t>
            </a:r>
            <a:endParaRPr lang="en-US" sz="930" dirty="0"/>
          </a:p>
          <a:p>
            <a:pPr marL="152400" indent="-152400">
              <a:spcAft>
                <a:spcPts val="800"/>
              </a:spcAft>
              <a:buSzPct val="100000"/>
              <a:buChar char="•"/>
            </a:pPr>
            <a:r>
              <a:rPr lang="en-US" sz="930" dirty="0">
                <a:solidFill>
                  <a:srgbClr val="1A1A1A"/>
                </a:solidFill>
                <a:latin typeface="Calibri" pitchFamily="34" charset="0"/>
                <a:ea typeface="Calibri" pitchFamily="34" charset="-122"/>
                <a:cs typeface="Calibri" pitchFamily="34" charset="-120"/>
              </a:rPr>
              <a:t>Implemented hybrid retrieve_guidelines() with specialty/topic boosts</a:t>
            </a:r>
            <a:endParaRPr lang="en-US" sz="930" dirty="0"/>
          </a:p>
          <a:p>
            <a:pPr marL="152400" indent="-152400">
              <a:spcAft>
                <a:spcPts val="800"/>
              </a:spcAft>
              <a:buSzPct val="100000"/>
              <a:buChar char="•"/>
            </a:pPr>
            <a:r>
              <a:rPr lang="en-US" sz="930" dirty="0">
                <a:solidFill>
                  <a:srgbClr val="1A1A1A"/>
                </a:solidFill>
                <a:latin typeface="Calibri" pitchFamily="34" charset="0"/>
                <a:ea typeface="Calibri" pitchFamily="34" charset="-122"/>
                <a:cs typeface="Calibri" pitchFamily="34" charset="-120"/>
              </a:rPr>
              <a:t>Ensured diabetes, sepsis and other topics rank to the correct evidence cards</a:t>
            </a:r>
            <a:endParaRPr lang="en-US" sz="930" dirty="0"/>
          </a:p>
        </p:txBody>
      </p:sp>
      <p:sp>
        <p:nvSpPr>
          <p:cNvPr id="16" name="Shape 14"/>
          <p:cNvSpPr/>
          <p:nvPr/>
        </p:nvSpPr>
        <p:spPr>
          <a:xfrm>
            <a:off x="5852160" y="1600200"/>
            <a:ext cx="2606040" cy="4709160"/>
          </a:xfrm>
          <a:prstGeom prst="roundRect">
            <a:avLst>
              <a:gd name="adj" fmla="val 1754"/>
            </a:avLst>
          </a:prstGeom>
          <a:solidFill>
            <a:srgbClr val="FFFFFF"/>
          </a:solidFill>
          <a:ln w="12700">
            <a:solidFill>
              <a:srgbClr val="D8E0E4"/>
            </a:solidFill>
            <a:prstDash val="solid"/>
          </a:ln>
        </p:spPr>
      </p:sp>
      <p:sp>
        <p:nvSpPr>
          <p:cNvPr id="17" name="Shape 15"/>
          <p:cNvSpPr/>
          <p:nvPr/>
        </p:nvSpPr>
        <p:spPr>
          <a:xfrm>
            <a:off x="6035040" y="1783080"/>
            <a:ext cx="475488" cy="475488"/>
          </a:xfrm>
          <a:prstGeom prst="ellipse">
            <a:avLst/>
          </a:prstGeom>
          <a:solidFill>
            <a:srgbClr val="0B3142"/>
          </a:solidFill>
          <a:ln/>
        </p:spPr>
      </p:sp>
      <p:sp>
        <p:nvSpPr>
          <p:cNvPr id="18" name="Text 16"/>
          <p:cNvSpPr/>
          <p:nvPr/>
        </p:nvSpPr>
        <p:spPr>
          <a:xfrm>
            <a:off x="6035040" y="1783080"/>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t>
            </a:r>
            <a:endParaRPr lang="en-US" sz="1500" dirty="0"/>
          </a:p>
        </p:txBody>
      </p:sp>
      <p:sp>
        <p:nvSpPr>
          <p:cNvPr id="19" name="Text 17"/>
          <p:cNvSpPr/>
          <p:nvPr/>
        </p:nvSpPr>
        <p:spPr>
          <a:xfrm>
            <a:off x="5989320" y="2331720"/>
            <a:ext cx="2331720" cy="365760"/>
          </a:xfrm>
          <a:prstGeom prst="rect">
            <a:avLst/>
          </a:prstGeom>
          <a:noFill/>
          <a:ln/>
        </p:spPr>
        <p:txBody>
          <a:bodyPr wrap="square" rtlCol="0" anchor="ctr"/>
          <a:lstStyle/>
          <a:p>
            <a:pPr algn="l" indent="0" marL="0">
              <a:buNone/>
            </a:pPr>
            <a:r>
              <a:rPr lang="en-US" sz="1350" b="1" dirty="0">
                <a:solidFill>
                  <a:srgbClr val="0B3142"/>
                </a:solidFill>
                <a:latin typeface="Cambria" pitchFamily="34" charset="0"/>
                <a:ea typeface="Cambria" pitchFamily="34" charset="-122"/>
                <a:cs typeface="Cambria" pitchFamily="34" charset="-120"/>
              </a:rPr>
              <a:t>Radhakrishna</a:t>
            </a:r>
            <a:endParaRPr lang="en-US" sz="1350" dirty="0"/>
          </a:p>
        </p:txBody>
      </p:sp>
      <p:sp>
        <p:nvSpPr>
          <p:cNvPr id="20" name="Text 18"/>
          <p:cNvSpPr/>
          <p:nvPr/>
        </p:nvSpPr>
        <p:spPr>
          <a:xfrm>
            <a:off x="5989320" y="2660904"/>
            <a:ext cx="2331720" cy="502920"/>
          </a:xfrm>
          <a:prstGeom prst="rect">
            <a:avLst/>
          </a:prstGeom>
          <a:noFill/>
          <a:ln/>
        </p:spPr>
        <p:txBody>
          <a:bodyPr wrap="square" rtlCol="0" anchor="t"/>
          <a:lstStyle/>
          <a:p>
            <a:pPr algn="l" indent="0" marL="0">
              <a:buNone/>
            </a:pPr>
            <a:r>
              <a:rPr lang="en-US" sz="950" i="1" dirty="0">
                <a:solidFill>
                  <a:srgbClr val="5B6B76"/>
                </a:solidFill>
                <a:latin typeface="Calibri" pitchFamily="34" charset="0"/>
                <a:ea typeface="Calibri" pitchFamily="34" charset="-122"/>
                <a:cs typeface="Calibri" pitchFamily="34" charset="-120"/>
              </a:rPr>
              <a:t>Patient extraction</a:t>
            </a:r>
            <a:endParaRPr lang="en-US" sz="950" dirty="0"/>
          </a:p>
        </p:txBody>
      </p:sp>
      <p:sp>
        <p:nvSpPr>
          <p:cNvPr id="21" name="Text 19"/>
          <p:cNvSpPr/>
          <p:nvPr/>
        </p:nvSpPr>
        <p:spPr>
          <a:xfrm>
            <a:off x="6016752" y="3246120"/>
            <a:ext cx="2276856" cy="2880360"/>
          </a:xfrm>
          <a:prstGeom prst="rect">
            <a:avLst/>
          </a:prstGeom>
          <a:noFill/>
          <a:ln/>
        </p:spPr>
        <p:txBody>
          <a:bodyPr wrap="square" lIns="0" tIns="0" rIns="0" bIns="0" rtlCol="0" anchor="t"/>
          <a:lstStyle/>
          <a:p>
            <a:pPr marL="152400" indent="-152400">
              <a:spcAft>
                <a:spcPts val="800"/>
              </a:spcAft>
              <a:buSzPct val="100000"/>
              <a:buChar char="•"/>
            </a:pPr>
            <a:r>
              <a:rPr lang="en-US" sz="930" dirty="0">
                <a:solidFill>
                  <a:srgbClr val="1A1A1A"/>
                </a:solidFill>
                <a:latin typeface="Calibri" pitchFamily="34" charset="0"/>
                <a:ea typeface="Calibri" pitchFamily="34" charset="-122"/>
                <a:cs typeface="Calibri" pitchFamily="34" charset="-120"/>
              </a:rPr>
              <a:t>Owned PatientData only: name, age, sex, MRN, setting and date</a:t>
            </a:r>
            <a:endParaRPr lang="en-US" sz="930" dirty="0"/>
          </a:p>
          <a:p>
            <a:pPr marL="152400" indent="-152400">
              <a:spcAft>
                <a:spcPts val="800"/>
              </a:spcAft>
              <a:buSzPct val="100000"/>
              <a:buChar char="•"/>
            </a:pPr>
            <a:r>
              <a:rPr lang="en-US" sz="930" dirty="0">
                <a:solidFill>
                  <a:srgbClr val="1A1A1A"/>
                </a:solidFill>
                <a:latin typeface="Calibri" pitchFamily="34" charset="0"/>
                <a:ea typeface="Calibri" pitchFamily="34" charset="-122"/>
                <a:cs typeface="Calibri" pitchFamily="34" charset="-120"/>
              </a:rPr>
              <a:t>Added Gemini/LangChain structured extraction</a:t>
            </a:r>
            <a:endParaRPr lang="en-US" sz="930" dirty="0"/>
          </a:p>
          <a:p>
            <a:pPr marL="152400" indent="-152400">
              <a:spcAft>
                <a:spcPts val="800"/>
              </a:spcAft>
              <a:buSzPct val="100000"/>
              <a:buChar char="•"/>
            </a:pPr>
            <a:r>
              <a:rPr lang="en-US" sz="930" dirty="0">
                <a:solidFill>
                  <a:srgbClr val="1A1A1A"/>
                </a:solidFill>
                <a:latin typeface="Calibri" pitchFamily="34" charset="0"/>
                <a:ea typeface="Calibri" pitchFamily="34" charset="-122"/>
                <a:cs typeface="Calibri" pitchFamily="34" charset="-120"/>
              </a:rPr>
              <a:t>Built heuristic mock/fallback so synthetic cases work offline</a:t>
            </a:r>
            <a:endParaRPr lang="en-US" sz="930" dirty="0"/>
          </a:p>
          <a:p>
            <a:pPr marL="152400" indent="-152400">
              <a:spcAft>
                <a:spcPts val="800"/>
              </a:spcAft>
              <a:buSzPct val="100000"/>
              <a:buChar char="•"/>
            </a:pPr>
            <a:r>
              <a:rPr lang="en-US" sz="930" dirty="0">
                <a:solidFill>
                  <a:srgbClr val="1A1A1A"/>
                </a:solidFill>
                <a:latin typeface="Calibri" pitchFamily="34" charset="0"/>
                <a:ea typeface="Calibri" pitchFamily="34" charset="-122"/>
                <a:cs typeface="Calibri" pitchFamily="34" charset="-120"/>
              </a:rPr>
              <a:t>Added CLI and tests without leaking medical fields into demographics</a:t>
            </a:r>
            <a:endParaRPr lang="en-US" sz="930" dirty="0"/>
          </a:p>
        </p:txBody>
      </p:sp>
      <p:sp>
        <p:nvSpPr>
          <p:cNvPr id="22" name="Shape 20"/>
          <p:cNvSpPr/>
          <p:nvPr/>
        </p:nvSpPr>
        <p:spPr>
          <a:xfrm>
            <a:off x="8549640" y="1600200"/>
            <a:ext cx="2606040" cy="4709160"/>
          </a:xfrm>
          <a:prstGeom prst="roundRect">
            <a:avLst>
              <a:gd name="adj" fmla="val 1754"/>
            </a:avLst>
          </a:prstGeom>
          <a:solidFill>
            <a:srgbClr val="FFFFFF"/>
          </a:solidFill>
          <a:ln w="12700">
            <a:solidFill>
              <a:srgbClr val="D8E0E4"/>
            </a:solidFill>
            <a:prstDash val="solid"/>
          </a:ln>
        </p:spPr>
      </p:sp>
      <p:sp>
        <p:nvSpPr>
          <p:cNvPr id="23" name="Shape 21"/>
          <p:cNvSpPr/>
          <p:nvPr/>
        </p:nvSpPr>
        <p:spPr>
          <a:xfrm>
            <a:off x="8732520" y="1783080"/>
            <a:ext cx="475488" cy="475488"/>
          </a:xfrm>
          <a:prstGeom prst="ellipse">
            <a:avLst/>
          </a:prstGeom>
          <a:solidFill>
            <a:srgbClr val="0B3142"/>
          </a:solidFill>
          <a:ln/>
        </p:spPr>
      </p:sp>
      <p:sp>
        <p:nvSpPr>
          <p:cNvPr id="24" name="Text 22"/>
          <p:cNvSpPr/>
          <p:nvPr/>
        </p:nvSpPr>
        <p:spPr>
          <a:xfrm>
            <a:off x="8732520" y="1783080"/>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V</a:t>
            </a:r>
            <a:endParaRPr lang="en-US" sz="1500" dirty="0"/>
          </a:p>
        </p:txBody>
      </p:sp>
      <p:sp>
        <p:nvSpPr>
          <p:cNvPr id="25" name="Text 23"/>
          <p:cNvSpPr/>
          <p:nvPr/>
        </p:nvSpPr>
        <p:spPr>
          <a:xfrm>
            <a:off x="8686800" y="2331720"/>
            <a:ext cx="2331720" cy="365760"/>
          </a:xfrm>
          <a:prstGeom prst="rect">
            <a:avLst/>
          </a:prstGeom>
          <a:noFill/>
          <a:ln/>
        </p:spPr>
        <p:txBody>
          <a:bodyPr wrap="square" rtlCol="0" anchor="ctr"/>
          <a:lstStyle/>
          <a:p>
            <a:pPr algn="l" indent="0" marL="0">
              <a:buNone/>
            </a:pPr>
            <a:r>
              <a:rPr lang="en-US" sz="1350" b="1" dirty="0">
                <a:solidFill>
                  <a:srgbClr val="0B3142"/>
                </a:solidFill>
                <a:latin typeface="Cambria" pitchFamily="34" charset="0"/>
                <a:ea typeface="Cambria" pitchFamily="34" charset="-122"/>
                <a:cs typeface="Cambria" pitchFamily="34" charset="-120"/>
              </a:rPr>
              <a:t>Vinayak</a:t>
            </a:r>
            <a:endParaRPr lang="en-US" sz="1350" dirty="0"/>
          </a:p>
        </p:txBody>
      </p:sp>
      <p:sp>
        <p:nvSpPr>
          <p:cNvPr id="26" name="Text 24"/>
          <p:cNvSpPr/>
          <p:nvPr/>
        </p:nvSpPr>
        <p:spPr>
          <a:xfrm>
            <a:off x="8686800" y="2660904"/>
            <a:ext cx="2331720" cy="502920"/>
          </a:xfrm>
          <a:prstGeom prst="rect">
            <a:avLst/>
          </a:prstGeom>
          <a:noFill/>
          <a:ln/>
        </p:spPr>
        <p:txBody>
          <a:bodyPr wrap="square" rtlCol="0" anchor="t"/>
          <a:lstStyle/>
          <a:p>
            <a:pPr algn="l" indent="0" marL="0">
              <a:buNone/>
            </a:pPr>
            <a:r>
              <a:rPr lang="en-US" sz="950" i="1" dirty="0">
                <a:solidFill>
                  <a:srgbClr val="5B6B76"/>
                </a:solidFill>
                <a:latin typeface="Calibri" pitchFamily="34" charset="0"/>
                <a:ea typeface="Calibri" pitchFamily="34" charset="-122"/>
                <a:cs typeface="Calibri" pitchFamily="34" charset="-120"/>
              </a:rPr>
              <a:t>Medical extraction</a:t>
            </a:r>
            <a:endParaRPr lang="en-US" sz="950" dirty="0"/>
          </a:p>
        </p:txBody>
      </p:sp>
      <p:sp>
        <p:nvSpPr>
          <p:cNvPr id="27" name="Text 25"/>
          <p:cNvSpPr/>
          <p:nvPr/>
        </p:nvSpPr>
        <p:spPr>
          <a:xfrm>
            <a:off x="8714232" y="3246120"/>
            <a:ext cx="2276856" cy="2880360"/>
          </a:xfrm>
          <a:prstGeom prst="rect">
            <a:avLst/>
          </a:prstGeom>
          <a:noFill/>
          <a:ln/>
        </p:spPr>
        <p:txBody>
          <a:bodyPr wrap="square" lIns="0" tIns="0" rIns="0" bIns="0" rtlCol="0" anchor="t"/>
          <a:lstStyle/>
          <a:p>
            <a:pPr marL="152400" indent="-152400">
              <a:spcAft>
                <a:spcPts val="800"/>
              </a:spcAft>
              <a:buSzPct val="100000"/>
              <a:buChar char="•"/>
            </a:pPr>
            <a:r>
              <a:rPr lang="en-US" sz="930" dirty="0">
                <a:solidFill>
                  <a:srgbClr val="1A1A1A"/>
                </a:solidFill>
                <a:latin typeface="Calibri" pitchFamily="34" charset="0"/>
                <a:ea typeface="Calibri" pitchFamily="34" charset="-122"/>
                <a:cs typeface="Calibri" pitchFamily="34" charset="-120"/>
              </a:rPr>
              <a:t>Owned MedicalData: problems, meds, vitals, labs, assessment and plan</a:t>
            </a:r>
            <a:endParaRPr lang="en-US" sz="930" dirty="0"/>
          </a:p>
          <a:p>
            <a:pPr marL="152400" indent="-152400">
              <a:spcAft>
                <a:spcPts val="800"/>
              </a:spcAft>
              <a:buSzPct val="100000"/>
              <a:buChar char="•"/>
            </a:pPr>
            <a:r>
              <a:rPr lang="en-US" sz="930" dirty="0">
                <a:solidFill>
                  <a:srgbClr val="1A1A1A"/>
                </a:solidFill>
                <a:latin typeface="Calibri" pitchFamily="34" charset="0"/>
                <a:ea typeface="Calibri" pitchFamily="34" charset="-122"/>
                <a:cs typeface="Calibri" pitchFamily="34" charset="-120"/>
              </a:rPr>
              <a:t>Added structured Gemini/LangChain extraction with fallback</a:t>
            </a:r>
            <a:endParaRPr lang="en-US" sz="930" dirty="0"/>
          </a:p>
          <a:p>
            <a:pPr marL="152400" indent="-152400">
              <a:spcAft>
                <a:spcPts val="800"/>
              </a:spcAft>
              <a:buSzPct val="100000"/>
              <a:buChar char="•"/>
            </a:pPr>
            <a:r>
              <a:rPr lang="en-US" sz="930" dirty="0">
                <a:solidFill>
                  <a:srgbClr val="1A1A1A"/>
                </a:solidFill>
                <a:latin typeface="Calibri" pitchFamily="34" charset="0"/>
                <a:ea typeface="Calibri" pitchFamily="34" charset="-122"/>
                <a:cs typeface="Calibri" pitchFamily="34" charset="-120"/>
              </a:rPr>
              <a:t>Converted labs into LabFlag rows and handled unreadable notes safely</a:t>
            </a:r>
            <a:endParaRPr lang="en-US" sz="930" dirty="0"/>
          </a:p>
          <a:p>
            <a:pPr marL="152400" indent="-152400">
              <a:spcAft>
                <a:spcPts val="800"/>
              </a:spcAft>
              <a:buSzPct val="100000"/>
              <a:buChar char="•"/>
            </a:pPr>
            <a:r>
              <a:rPr lang="en-US" sz="930" dirty="0">
                <a:solidFill>
                  <a:srgbClr val="1A1A1A"/>
                </a:solidFill>
                <a:latin typeface="Calibri" pitchFamily="34" charset="0"/>
                <a:ea typeface="Calibri" pitchFamily="34" charset="-122"/>
                <a:cs typeface="Calibri" pitchFamily="34" charset="-120"/>
              </a:rPr>
              <a:t>Added CR-001 heuristics, CLI and contract-focused tests</a:t>
            </a:r>
            <a:endParaRPr lang="en-US" sz="93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algn="l" indent="0" marL="0">
              <a:buNone/>
            </a:pPr>
            <a:r>
              <a:rPr lang="en-US" sz="2800" b="1" dirty="0">
                <a:solidFill>
                  <a:srgbClr val="0B3142"/>
                </a:solidFill>
                <a:latin typeface="Cambria" pitchFamily="34" charset="0"/>
                <a:ea typeface="Cambria" pitchFamily="34" charset="-122"/>
                <a:cs typeface="Cambria" pitchFamily="34" charset="-120"/>
              </a:rPr>
              <a:t>Grounded clinical narrative and recommendations</a:t>
            </a:r>
            <a:endParaRPr lang="en-US" sz="2800" dirty="0"/>
          </a:p>
        </p:txBody>
      </p:sp>
      <p:sp>
        <p:nvSpPr>
          <p:cNvPr id="3" name="Text 1"/>
          <p:cNvSpPr/>
          <p:nvPr/>
        </p:nvSpPr>
        <p:spPr>
          <a:xfrm>
            <a:off x="548640" y="932688"/>
            <a:ext cx="11091672" cy="365760"/>
          </a:xfrm>
          <a:prstGeom prst="rect">
            <a:avLst/>
          </a:prstGeom>
          <a:noFill/>
          <a:ln/>
        </p:spPr>
        <p:txBody>
          <a:bodyPr wrap="square" rtlCol="0" anchor="ctr"/>
          <a:lstStyle/>
          <a:p>
            <a:pPr algn="l" indent="0" marL="0">
              <a:buNone/>
            </a:pPr>
            <a:r>
              <a:rPr lang="en-US" sz="1300" i="1" dirty="0">
                <a:solidFill>
                  <a:srgbClr val="5B6B76"/>
                </a:solidFill>
                <a:latin typeface="Calibri" pitchFamily="34" charset="0"/>
                <a:ea typeface="Calibri" pitchFamily="34" charset="-122"/>
                <a:cs typeface="Calibri" pitchFamily="34" charset="-120"/>
              </a:rPr>
              <a:t>Generation responsibilities were deliberately separated to reduce overlap and keep outputs traceable.</a:t>
            </a:r>
            <a:endParaRPr lang="en-US" sz="1300" dirty="0"/>
          </a:p>
        </p:txBody>
      </p:sp>
      <p:sp>
        <p:nvSpPr>
          <p:cNvPr id="4" name="Shape 2"/>
          <p:cNvSpPr/>
          <p:nvPr/>
        </p:nvSpPr>
        <p:spPr>
          <a:xfrm>
            <a:off x="548640" y="1691640"/>
            <a:ext cx="5120640" cy="4572000"/>
          </a:xfrm>
          <a:prstGeom prst="roundRect">
            <a:avLst>
              <a:gd name="adj" fmla="val 1200"/>
            </a:avLst>
          </a:prstGeom>
          <a:solidFill>
            <a:srgbClr val="F7F9FA"/>
          </a:solidFill>
          <a:ln w="12700">
            <a:solidFill>
              <a:srgbClr val="D8E0E4"/>
            </a:solidFill>
            <a:prstDash val="solid"/>
          </a:ln>
          <a:effectLst>
            <a:outerShdw sx="100000" sy="100000" kx="0" ky="0" algn="bl" rotWithShape="0" blurRad="76200" dist="25400" dir="5400000">
              <a:srgbClr val="000000">
                <a:alpha val="10000"/>
              </a:srgbClr>
            </a:outerShdw>
          </a:effectLst>
        </p:spPr>
      </p:sp>
      <p:sp>
        <p:nvSpPr>
          <p:cNvPr id="5" name="Shape 3"/>
          <p:cNvSpPr/>
          <p:nvPr/>
        </p:nvSpPr>
        <p:spPr>
          <a:xfrm>
            <a:off x="868680" y="1984248"/>
            <a:ext cx="566928" cy="566928"/>
          </a:xfrm>
          <a:prstGeom prst="ellipse">
            <a:avLst/>
          </a:prstGeom>
          <a:solidFill>
            <a:srgbClr val="5B3A7A"/>
          </a:solidFill>
          <a:ln/>
        </p:spPr>
      </p:sp>
      <p:sp>
        <p:nvSpPr>
          <p:cNvPr id="6" name="Text 4"/>
          <p:cNvSpPr/>
          <p:nvPr/>
        </p:nvSpPr>
        <p:spPr>
          <a:xfrm>
            <a:off x="868680" y="1984248"/>
            <a:ext cx="566928" cy="566928"/>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S</a:t>
            </a:r>
            <a:endParaRPr lang="en-US" sz="1700" dirty="0"/>
          </a:p>
        </p:txBody>
      </p:sp>
      <p:sp>
        <p:nvSpPr>
          <p:cNvPr id="7" name="Text 5"/>
          <p:cNvSpPr/>
          <p:nvPr/>
        </p:nvSpPr>
        <p:spPr>
          <a:xfrm>
            <a:off x="1554480" y="1920240"/>
            <a:ext cx="3840480" cy="384048"/>
          </a:xfrm>
          <a:prstGeom prst="rect">
            <a:avLst/>
          </a:prstGeom>
          <a:noFill/>
          <a:ln/>
        </p:spPr>
        <p:txBody>
          <a:bodyPr wrap="square" rtlCol="0" anchor="ctr"/>
          <a:lstStyle/>
          <a:p>
            <a:pPr indent="0" marL="0">
              <a:buNone/>
            </a:pPr>
            <a:r>
              <a:rPr lang="en-US" sz="1600" b="1" dirty="0">
                <a:solidFill>
                  <a:srgbClr val="0B3142"/>
                </a:solidFill>
                <a:latin typeface="Cambria" pitchFamily="34" charset="0"/>
                <a:ea typeface="Cambria" pitchFamily="34" charset="-122"/>
                <a:cs typeface="Cambria" pitchFamily="34" charset="-120"/>
              </a:rPr>
              <a:t>Sneha</a:t>
            </a:r>
            <a:endParaRPr lang="en-US" sz="1600" dirty="0"/>
          </a:p>
        </p:txBody>
      </p:sp>
      <p:sp>
        <p:nvSpPr>
          <p:cNvPr id="8" name="Text 6"/>
          <p:cNvSpPr/>
          <p:nvPr/>
        </p:nvSpPr>
        <p:spPr>
          <a:xfrm>
            <a:off x="1554480" y="2286000"/>
            <a:ext cx="3840480" cy="365760"/>
          </a:xfrm>
          <a:prstGeom prst="rect">
            <a:avLst/>
          </a:prstGeom>
          <a:noFill/>
          <a:ln/>
        </p:spPr>
        <p:txBody>
          <a:bodyPr wrap="square" rtlCol="0" anchor="t"/>
          <a:lstStyle/>
          <a:p>
            <a:pPr indent="0" marL="0">
              <a:buNone/>
            </a:pPr>
            <a:r>
              <a:rPr lang="en-US" sz="1050" i="1" dirty="0">
                <a:solidFill>
                  <a:srgbClr val="5B6B76"/>
                </a:solidFill>
                <a:latin typeface="Calibri" pitchFamily="34" charset="0"/>
                <a:ea typeface="Calibri" pitchFamily="34" charset="-122"/>
                <a:cs typeface="Calibri" pitchFamily="34" charset="-120"/>
              </a:rPr>
              <a:t>In-depth SOAP summary</a:t>
            </a:r>
            <a:endParaRPr lang="en-US" sz="1050" dirty="0"/>
          </a:p>
        </p:txBody>
      </p:sp>
      <p:sp>
        <p:nvSpPr>
          <p:cNvPr id="9" name="Text 7"/>
          <p:cNvSpPr/>
          <p:nvPr/>
        </p:nvSpPr>
        <p:spPr>
          <a:xfrm>
            <a:off x="914400" y="2834640"/>
            <a:ext cx="4389120" cy="3200400"/>
          </a:xfrm>
          <a:prstGeom prst="rect">
            <a:avLst/>
          </a:prstGeom>
          <a:noFill/>
          <a:ln/>
        </p:spPr>
        <p:txBody>
          <a:bodyPr wrap="square" lIns="0" tIns="0" rIns="0" bIns="0" rtlCol="0" anchor="t"/>
          <a:lstStyle/>
          <a:p>
            <a:pPr marL="203200" indent="-203200">
              <a:spcAft>
                <a:spcPts val="1200"/>
              </a:spcAft>
              <a:buSzPct val="100000"/>
              <a:buChar char="•"/>
            </a:pPr>
            <a:r>
              <a:rPr lang="en-US" sz="1150" dirty="0">
                <a:solidFill>
                  <a:srgbClr val="1A1A1A"/>
                </a:solidFill>
                <a:latin typeface="Calibri" pitchFamily="34" charset="0"/>
                <a:ea typeface="Calibri" pitchFamily="34" charset="-122"/>
                <a:cs typeface="Calibri" pitchFamily="34" charset="-120"/>
              </a:rPr>
              <a:t>Consumed patient data, medical data and retrieved evidence as three explicit inputs</a:t>
            </a:r>
            <a:endParaRPr lang="en-US" sz="1150" dirty="0"/>
          </a:p>
          <a:p>
            <a:pPr marL="203200" indent="-203200">
              <a:spcAft>
                <a:spcPts val="1200"/>
              </a:spcAft>
              <a:buSzPct val="100000"/>
              <a:buChar char="•"/>
            </a:pPr>
            <a:r>
              <a:rPr lang="en-US" sz="1150" dirty="0">
                <a:solidFill>
                  <a:srgbClr val="1A1A1A"/>
                </a:solidFill>
                <a:latin typeface="Calibri" pitchFamily="34" charset="0"/>
                <a:ea typeface="Calibri" pitchFamily="34" charset="-122"/>
                <a:cs typeface="Calibri" pitchFamily="34" charset="-120"/>
              </a:rPr>
              <a:t>Produced grounded Subjective / Objective / Assessment / Plan / Evidence-used structure</a:t>
            </a:r>
            <a:endParaRPr lang="en-US" sz="1150" dirty="0"/>
          </a:p>
          <a:p>
            <a:pPr marL="203200" indent="-203200">
              <a:spcAft>
                <a:spcPts val="1200"/>
              </a:spcAft>
              <a:buSzPct val="100000"/>
              <a:buChar char="•"/>
            </a:pPr>
            <a:r>
              <a:rPr lang="en-US" sz="1150" dirty="0">
                <a:solidFill>
                  <a:srgbClr val="1A1A1A"/>
                </a:solidFill>
                <a:latin typeface="Calibri" pitchFamily="34" charset="0"/>
                <a:ea typeface="Calibri" pitchFamily="34" charset="-122"/>
                <a:cs typeface="Calibri" pitchFamily="34" charset="-120"/>
              </a:rPr>
              <a:t>Kept the summary educational and restricted to facts already present in inputs</a:t>
            </a:r>
            <a:endParaRPr lang="en-US" sz="1150" dirty="0"/>
          </a:p>
          <a:p>
            <a:pPr marL="203200" indent="-203200">
              <a:spcAft>
                <a:spcPts val="1200"/>
              </a:spcAft>
              <a:buSzPct val="100000"/>
              <a:buChar char="•"/>
            </a:pPr>
            <a:r>
              <a:rPr lang="en-US" sz="1150" dirty="0">
                <a:solidFill>
                  <a:srgbClr val="1A1A1A"/>
                </a:solidFill>
                <a:latin typeface="Calibri" pitchFamily="34" charset="0"/>
                <a:ea typeface="Calibri" pitchFamily="34" charset="-122"/>
                <a:cs typeface="Calibri" pitchFamily="34" charset="-120"/>
              </a:rPr>
              <a:t>Provided deterministic mock generation and tests, including diabetes + HbA1c 9.2 coverage</a:t>
            </a:r>
            <a:endParaRPr lang="en-US" sz="1150" dirty="0"/>
          </a:p>
        </p:txBody>
      </p:sp>
      <p:sp>
        <p:nvSpPr>
          <p:cNvPr id="10" name="Shape 8"/>
          <p:cNvSpPr/>
          <p:nvPr/>
        </p:nvSpPr>
        <p:spPr>
          <a:xfrm>
            <a:off x="6126480" y="1691640"/>
            <a:ext cx="5120640" cy="4572000"/>
          </a:xfrm>
          <a:prstGeom prst="roundRect">
            <a:avLst>
              <a:gd name="adj" fmla="val 1200"/>
            </a:avLst>
          </a:prstGeom>
          <a:solidFill>
            <a:srgbClr val="F7F9FA"/>
          </a:solidFill>
          <a:ln w="12700">
            <a:solidFill>
              <a:srgbClr val="D8E0E4"/>
            </a:solidFill>
            <a:prstDash val="solid"/>
          </a:ln>
          <a:effectLst>
            <a:outerShdw sx="100000" sy="100000" kx="0" ky="0" algn="bl" rotWithShape="0" blurRad="76200" dist="25400" dir="5400000">
              <a:srgbClr val="000000">
                <a:alpha val="10000"/>
              </a:srgbClr>
            </a:outerShdw>
          </a:effectLst>
        </p:spPr>
      </p:sp>
      <p:sp>
        <p:nvSpPr>
          <p:cNvPr id="11" name="Shape 9"/>
          <p:cNvSpPr/>
          <p:nvPr/>
        </p:nvSpPr>
        <p:spPr>
          <a:xfrm>
            <a:off x="6446520" y="1984248"/>
            <a:ext cx="566928" cy="566928"/>
          </a:xfrm>
          <a:prstGeom prst="ellipse">
            <a:avLst/>
          </a:prstGeom>
          <a:solidFill>
            <a:srgbClr val="028090"/>
          </a:solidFill>
          <a:ln/>
        </p:spPr>
      </p:sp>
      <p:sp>
        <p:nvSpPr>
          <p:cNvPr id="12" name="Text 10"/>
          <p:cNvSpPr/>
          <p:nvPr/>
        </p:nvSpPr>
        <p:spPr>
          <a:xfrm>
            <a:off x="6446520" y="1984248"/>
            <a:ext cx="566928" cy="566928"/>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L</a:t>
            </a:r>
            <a:endParaRPr lang="en-US" sz="1700" dirty="0"/>
          </a:p>
        </p:txBody>
      </p:sp>
      <p:sp>
        <p:nvSpPr>
          <p:cNvPr id="13" name="Text 11"/>
          <p:cNvSpPr/>
          <p:nvPr/>
        </p:nvSpPr>
        <p:spPr>
          <a:xfrm>
            <a:off x="7132320" y="1920240"/>
            <a:ext cx="3840480" cy="384048"/>
          </a:xfrm>
          <a:prstGeom prst="rect">
            <a:avLst/>
          </a:prstGeom>
          <a:noFill/>
          <a:ln/>
        </p:spPr>
        <p:txBody>
          <a:bodyPr wrap="square" rtlCol="0" anchor="ctr"/>
          <a:lstStyle/>
          <a:p>
            <a:pPr indent="0" marL="0">
              <a:buNone/>
            </a:pPr>
            <a:r>
              <a:rPr lang="en-US" sz="1600" b="1" dirty="0">
                <a:solidFill>
                  <a:srgbClr val="0B3142"/>
                </a:solidFill>
                <a:latin typeface="Cambria" pitchFamily="34" charset="0"/>
                <a:ea typeface="Cambria" pitchFamily="34" charset="-122"/>
                <a:cs typeface="Cambria" pitchFamily="34" charset="-120"/>
              </a:rPr>
              <a:t>Lakshmi</a:t>
            </a:r>
            <a:endParaRPr lang="en-US" sz="1600" dirty="0"/>
          </a:p>
        </p:txBody>
      </p:sp>
      <p:sp>
        <p:nvSpPr>
          <p:cNvPr id="14" name="Text 12"/>
          <p:cNvSpPr/>
          <p:nvPr/>
        </p:nvSpPr>
        <p:spPr>
          <a:xfrm>
            <a:off x="7132320" y="2286000"/>
            <a:ext cx="3840480" cy="365760"/>
          </a:xfrm>
          <a:prstGeom prst="rect">
            <a:avLst/>
          </a:prstGeom>
          <a:noFill/>
          <a:ln/>
        </p:spPr>
        <p:txBody>
          <a:bodyPr wrap="square" rtlCol="0" anchor="t"/>
          <a:lstStyle/>
          <a:p>
            <a:pPr indent="0" marL="0">
              <a:buNone/>
            </a:pPr>
            <a:r>
              <a:rPr lang="en-US" sz="1050" i="1" dirty="0">
                <a:solidFill>
                  <a:srgbClr val="5B6B76"/>
                </a:solidFill>
                <a:latin typeface="Calibri" pitchFamily="34" charset="0"/>
                <a:ea typeface="Calibri" pitchFamily="34" charset="-122"/>
                <a:cs typeface="Calibri" pitchFamily="34" charset="-120"/>
              </a:rPr>
              <a:t>Cited recommendations</a:t>
            </a:r>
            <a:endParaRPr lang="en-US" sz="1050" dirty="0"/>
          </a:p>
        </p:txBody>
      </p:sp>
      <p:sp>
        <p:nvSpPr>
          <p:cNvPr id="15" name="Text 13"/>
          <p:cNvSpPr/>
          <p:nvPr/>
        </p:nvSpPr>
        <p:spPr>
          <a:xfrm>
            <a:off x="6492240" y="2834640"/>
            <a:ext cx="4389120" cy="3200400"/>
          </a:xfrm>
          <a:prstGeom prst="rect">
            <a:avLst/>
          </a:prstGeom>
          <a:noFill/>
          <a:ln/>
        </p:spPr>
        <p:txBody>
          <a:bodyPr wrap="square" lIns="0" tIns="0" rIns="0" bIns="0" rtlCol="0" anchor="t"/>
          <a:lstStyle/>
          <a:p>
            <a:pPr marL="203200" indent="-203200">
              <a:spcAft>
                <a:spcPts val="1200"/>
              </a:spcAft>
              <a:buSzPct val="100000"/>
              <a:buChar char="•"/>
            </a:pPr>
            <a:r>
              <a:rPr lang="en-US" sz="1150" dirty="0">
                <a:solidFill>
                  <a:srgbClr val="1A1A1A"/>
                </a:solidFill>
                <a:latin typeface="Calibri" pitchFamily="34" charset="0"/>
                <a:ea typeface="Calibri" pitchFamily="34" charset="-122"/>
                <a:cs typeface="Calibri" pitchFamily="34" charset="-120"/>
              </a:rPr>
              <a:t>Produced 3–6 clinician discussion points from the same three grounded inputs</a:t>
            </a:r>
            <a:endParaRPr lang="en-US" sz="1150" dirty="0"/>
          </a:p>
          <a:p>
            <a:pPr marL="203200" indent="-203200">
              <a:spcAft>
                <a:spcPts val="1200"/>
              </a:spcAft>
              <a:buSzPct val="100000"/>
              <a:buChar char="•"/>
            </a:pPr>
            <a:r>
              <a:rPr lang="en-US" sz="1150" dirty="0">
                <a:solidFill>
                  <a:srgbClr val="1A1A1A"/>
                </a:solidFill>
                <a:latin typeface="Calibri" pitchFamily="34" charset="0"/>
                <a:ea typeface="Calibri" pitchFamily="34" charset="-122"/>
                <a:cs typeface="Calibri" pitchFamily="34" charset="-120"/>
              </a:rPr>
              <a:t>Locked citations to retrieved document titles/citations only</a:t>
            </a:r>
            <a:endParaRPr lang="en-US" sz="1150" dirty="0"/>
          </a:p>
          <a:p>
            <a:pPr marL="203200" indent="-203200">
              <a:spcAft>
                <a:spcPts val="1200"/>
              </a:spcAft>
              <a:buSzPct val="100000"/>
              <a:buChar char="•"/>
            </a:pPr>
            <a:r>
              <a:rPr lang="en-US" sz="1150" dirty="0">
                <a:solidFill>
                  <a:srgbClr val="1A1A1A"/>
                </a:solidFill>
                <a:latin typeface="Calibri" pitchFamily="34" charset="0"/>
                <a:ea typeface="Calibri" pitchFamily="34" charset="-122"/>
                <a:cs typeface="Calibri" pitchFamily="34" charset="-120"/>
              </a:rPr>
              <a:t>Used conservative wording such as discuss/consider instead of automatic clinical orders</a:t>
            </a:r>
            <a:endParaRPr lang="en-US" sz="1150" dirty="0"/>
          </a:p>
          <a:p>
            <a:pPr marL="203200" indent="-203200">
              <a:spcAft>
                <a:spcPts val="1200"/>
              </a:spcAft>
              <a:buSzPct val="100000"/>
              <a:buChar char="•"/>
            </a:pPr>
            <a:r>
              <a:rPr lang="en-US" sz="1150" dirty="0">
                <a:solidFill>
                  <a:srgbClr val="1A1A1A"/>
                </a:solidFill>
                <a:latin typeface="Calibri" pitchFamily="34" charset="0"/>
                <a:ea typeface="Calibri" pitchFamily="34" charset="-122"/>
                <a:cs typeface="Calibri" pitchFamily="34" charset="-120"/>
              </a:rPr>
              <a:t>Handled critical findings with urgent review language and supplied offline mock/tests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algn="l" indent="0" marL="0">
              <a:buNone/>
            </a:pPr>
            <a:r>
              <a:rPr lang="en-US" sz="2800" b="1" dirty="0">
                <a:solidFill>
                  <a:srgbClr val="0B3142"/>
                </a:solidFill>
                <a:latin typeface="Cambria" pitchFamily="34" charset="0"/>
                <a:ea typeface="Cambria" pitchFamily="34" charset="-122"/>
                <a:cs typeface="Cambria" pitchFamily="34" charset="-120"/>
              </a:rPr>
              <a:t>How the pieces come together</a:t>
            </a:r>
            <a:endParaRPr lang="en-US" sz="2800" dirty="0"/>
          </a:p>
        </p:txBody>
      </p:sp>
      <p:sp>
        <p:nvSpPr>
          <p:cNvPr id="3" name="Text 1"/>
          <p:cNvSpPr/>
          <p:nvPr/>
        </p:nvSpPr>
        <p:spPr>
          <a:xfrm>
            <a:off x="548640" y="932688"/>
            <a:ext cx="11091672" cy="365760"/>
          </a:xfrm>
          <a:prstGeom prst="rect">
            <a:avLst/>
          </a:prstGeom>
          <a:noFill/>
          <a:ln/>
        </p:spPr>
        <p:txBody>
          <a:bodyPr wrap="square" rtlCol="0" anchor="ctr"/>
          <a:lstStyle/>
          <a:p>
            <a:pPr algn="l" indent="0" marL="0">
              <a:buNone/>
            </a:pPr>
            <a:r>
              <a:rPr lang="en-US" sz="1300" i="1" dirty="0">
                <a:solidFill>
                  <a:srgbClr val="5B6B76"/>
                </a:solidFill>
                <a:latin typeface="Calibri" pitchFamily="34" charset="0"/>
                <a:ea typeface="Calibri" pitchFamily="34" charset="-122"/>
                <a:cs typeface="Calibri" pitchFamily="34" charset="-120"/>
              </a:rPr>
              <a:t>A contract-first pipeline connects every owner into one review-gated experience.</a:t>
            </a:r>
            <a:endParaRPr lang="en-US" sz="1300" dirty="0"/>
          </a:p>
        </p:txBody>
      </p:sp>
      <p:sp>
        <p:nvSpPr>
          <p:cNvPr id="4" name="Shape 2"/>
          <p:cNvSpPr/>
          <p:nvPr/>
        </p:nvSpPr>
        <p:spPr>
          <a:xfrm>
            <a:off x="1391260" y="1463040"/>
            <a:ext cx="402336" cy="402336"/>
          </a:xfrm>
          <a:prstGeom prst="ellipse">
            <a:avLst/>
          </a:prstGeom>
          <a:solidFill>
            <a:srgbClr val="028090"/>
          </a:solidFill>
          <a:ln/>
        </p:spPr>
      </p:sp>
      <p:sp>
        <p:nvSpPr>
          <p:cNvPr id="5" name="Text 3"/>
          <p:cNvSpPr/>
          <p:nvPr/>
        </p:nvSpPr>
        <p:spPr>
          <a:xfrm>
            <a:off x="1391260" y="1463040"/>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Shape 4"/>
          <p:cNvSpPr/>
          <p:nvPr/>
        </p:nvSpPr>
        <p:spPr>
          <a:xfrm>
            <a:off x="792328" y="1965960"/>
            <a:ext cx="1600200" cy="1005840"/>
          </a:xfrm>
          <a:prstGeom prst="roundRect">
            <a:avLst>
              <a:gd name="adj" fmla="val 5455"/>
            </a:avLst>
          </a:prstGeom>
          <a:solidFill>
            <a:srgbClr val="028090"/>
          </a:solidFill>
          <a:ln/>
        </p:spPr>
      </p:sp>
      <p:sp>
        <p:nvSpPr>
          <p:cNvPr id="7" name="Text 5"/>
          <p:cNvSpPr/>
          <p:nvPr/>
        </p:nvSpPr>
        <p:spPr>
          <a:xfrm>
            <a:off x="792328" y="1965960"/>
            <a:ext cx="1600200" cy="10058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Input +</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run</a:t>
            </a:r>
            <a:endParaRPr lang="en-US" sz="1150" dirty="0"/>
          </a:p>
        </p:txBody>
      </p:sp>
      <p:sp>
        <p:nvSpPr>
          <p:cNvPr id="8" name="Text 6"/>
          <p:cNvSpPr/>
          <p:nvPr/>
        </p:nvSpPr>
        <p:spPr>
          <a:xfrm>
            <a:off x="655168" y="3063240"/>
            <a:ext cx="1874520" cy="502920"/>
          </a:xfrm>
          <a:prstGeom prst="rect">
            <a:avLst/>
          </a:prstGeom>
          <a:noFill/>
          <a:ln/>
        </p:spPr>
        <p:txBody>
          <a:bodyPr wrap="square" rtlCol="0" anchor="ctr"/>
          <a:lstStyle/>
          <a:p>
            <a:pPr algn="ctr" indent="0" marL="0">
              <a:buNone/>
            </a:pPr>
            <a:r>
              <a:rPr lang="en-US" sz="950" i="1" dirty="0">
                <a:solidFill>
                  <a:srgbClr val="5B6B76"/>
                </a:solidFill>
                <a:latin typeface="Calibri" pitchFamily="34" charset="0"/>
                <a:ea typeface="Calibri" pitchFamily="34" charset="-122"/>
                <a:cs typeface="Calibri" pitchFamily="34" charset="-120"/>
              </a:rPr>
              <a:t>Adarsh</a:t>
            </a:r>
            <a:endParaRPr lang="en-US" sz="950" dirty="0"/>
          </a:p>
        </p:txBody>
      </p:sp>
      <p:sp>
        <p:nvSpPr>
          <p:cNvPr id="9" name="Shape 7"/>
          <p:cNvSpPr/>
          <p:nvPr/>
        </p:nvSpPr>
        <p:spPr>
          <a:xfrm>
            <a:off x="3192628" y="1463040"/>
            <a:ext cx="402336" cy="402336"/>
          </a:xfrm>
          <a:prstGeom prst="ellipse">
            <a:avLst/>
          </a:prstGeom>
          <a:solidFill>
            <a:srgbClr val="0B3142"/>
          </a:solidFill>
          <a:ln/>
        </p:spPr>
      </p:sp>
      <p:sp>
        <p:nvSpPr>
          <p:cNvPr id="10" name="Text 8"/>
          <p:cNvSpPr/>
          <p:nvPr/>
        </p:nvSpPr>
        <p:spPr>
          <a:xfrm>
            <a:off x="3192628" y="1463040"/>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Shape 9"/>
          <p:cNvSpPr/>
          <p:nvPr/>
        </p:nvSpPr>
        <p:spPr>
          <a:xfrm>
            <a:off x="2593696" y="1965960"/>
            <a:ext cx="1600200" cy="1005840"/>
          </a:xfrm>
          <a:prstGeom prst="roundRect">
            <a:avLst>
              <a:gd name="adj" fmla="val 5455"/>
            </a:avLst>
          </a:prstGeom>
          <a:solidFill>
            <a:srgbClr val="0B3142"/>
          </a:solidFill>
          <a:ln/>
        </p:spPr>
      </p:sp>
      <p:sp>
        <p:nvSpPr>
          <p:cNvPr id="12" name="Text 10"/>
          <p:cNvSpPr/>
          <p:nvPr/>
        </p:nvSpPr>
        <p:spPr>
          <a:xfrm>
            <a:off x="2593696" y="1965960"/>
            <a:ext cx="1600200" cy="10058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Route +</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orchestrate</a:t>
            </a:r>
            <a:endParaRPr lang="en-US" sz="1150" dirty="0"/>
          </a:p>
        </p:txBody>
      </p:sp>
      <p:sp>
        <p:nvSpPr>
          <p:cNvPr id="13" name="Text 11"/>
          <p:cNvSpPr/>
          <p:nvPr/>
        </p:nvSpPr>
        <p:spPr>
          <a:xfrm>
            <a:off x="2456536" y="3063240"/>
            <a:ext cx="1874520" cy="502920"/>
          </a:xfrm>
          <a:prstGeom prst="rect">
            <a:avLst/>
          </a:prstGeom>
          <a:noFill/>
          <a:ln/>
        </p:spPr>
        <p:txBody>
          <a:bodyPr wrap="square" rtlCol="0" anchor="ctr"/>
          <a:lstStyle/>
          <a:p>
            <a:pPr algn="ctr" indent="0" marL="0">
              <a:buNone/>
            </a:pPr>
            <a:r>
              <a:rPr lang="en-US" sz="950" i="1" dirty="0">
                <a:solidFill>
                  <a:srgbClr val="5B6B76"/>
                </a:solidFill>
                <a:latin typeface="Calibri" pitchFamily="34" charset="0"/>
                <a:ea typeface="Calibri" pitchFamily="34" charset="-122"/>
                <a:cs typeface="Calibri" pitchFamily="34" charset="-120"/>
              </a:rPr>
              <a:t>Turjoy</a:t>
            </a:r>
            <a:endParaRPr lang="en-US" sz="950" dirty="0"/>
          </a:p>
        </p:txBody>
      </p:sp>
      <p:sp>
        <p:nvSpPr>
          <p:cNvPr id="14" name="Shape 12"/>
          <p:cNvSpPr/>
          <p:nvPr/>
        </p:nvSpPr>
        <p:spPr>
          <a:xfrm>
            <a:off x="4993996" y="1463040"/>
            <a:ext cx="402336" cy="402336"/>
          </a:xfrm>
          <a:prstGeom prst="ellipse">
            <a:avLst/>
          </a:prstGeom>
          <a:solidFill>
            <a:srgbClr val="0B3142"/>
          </a:solidFill>
          <a:ln/>
        </p:spPr>
      </p:sp>
      <p:sp>
        <p:nvSpPr>
          <p:cNvPr id="15" name="Text 13"/>
          <p:cNvSpPr/>
          <p:nvPr/>
        </p:nvSpPr>
        <p:spPr>
          <a:xfrm>
            <a:off x="4993996" y="1463040"/>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Shape 14"/>
          <p:cNvSpPr/>
          <p:nvPr/>
        </p:nvSpPr>
        <p:spPr>
          <a:xfrm>
            <a:off x="4395064" y="1965960"/>
            <a:ext cx="1600200" cy="1005840"/>
          </a:xfrm>
          <a:prstGeom prst="roundRect">
            <a:avLst>
              <a:gd name="adj" fmla="val 5455"/>
            </a:avLst>
          </a:prstGeom>
          <a:solidFill>
            <a:srgbClr val="0B3142"/>
          </a:solidFill>
          <a:ln/>
        </p:spPr>
      </p:sp>
      <p:sp>
        <p:nvSpPr>
          <p:cNvPr id="17" name="Text 15"/>
          <p:cNvSpPr/>
          <p:nvPr/>
        </p:nvSpPr>
        <p:spPr>
          <a:xfrm>
            <a:off x="4395064" y="1965960"/>
            <a:ext cx="1600200" cy="10058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Patient /</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medical</a:t>
            </a:r>
            <a:endParaRPr lang="en-US" sz="1150" dirty="0"/>
          </a:p>
        </p:txBody>
      </p:sp>
      <p:sp>
        <p:nvSpPr>
          <p:cNvPr id="18" name="Text 16"/>
          <p:cNvSpPr/>
          <p:nvPr/>
        </p:nvSpPr>
        <p:spPr>
          <a:xfrm>
            <a:off x="4257904" y="3063240"/>
            <a:ext cx="1874520" cy="502920"/>
          </a:xfrm>
          <a:prstGeom prst="rect">
            <a:avLst/>
          </a:prstGeom>
          <a:noFill/>
          <a:ln/>
        </p:spPr>
        <p:txBody>
          <a:bodyPr wrap="square" rtlCol="0" anchor="ctr"/>
          <a:lstStyle/>
          <a:p>
            <a:pPr algn="ctr" indent="0" marL="0">
              <a:buNone/>
            </a:pPr>
            <a:r>
              <a:rPr lang="en-US" sz="950" i="1" dirty="0">
                <a:solidFill>
                  <a:srgbClr val="5B6B76"/>
                </a:solidFill>
                <a:latin typeface="Calibri" pitchFamily="34" charset="0"/>
                <a:ea typeface="Calibri" pitchFamily="34" charset="-122"/>
                <a:cs typeface="Calibri" pitchFamily="34" charset="-120"/>
              </a:rPr>
              <a:t>Radhakrishna +</a:t>
            </a:r>
            <a:endParaRPr lang="en-US" sz="950" dirty="0"/>
          </a:p>
          <a:p>
            <a:pPr algn="ctr" indent="0" marL="0">
              <a:buNone/>
            </a:pPr>
            <a:r>
              <a:rPr lang="en-US" sz="950" i="1" dirty="0">
                <a:solidFill>
                  <a:srgbClr val="5B6B76"/>
                </a:solidFill>
                <a:latin typeface="Calibri" pitchFamily="34" charset="0"/>
                <a:ea typeface="Calibri" pitchFamily="34" charset="-122"/>
                <a:cs typeface="Calibri" pitchFamily="34" charset="-120"/>
              </a:rPr>
              <a:t>Vinayak</a:t>
            </a:r>
            <a:endParaRPr lang="en-US" sz="950" dirty="0"/>
          </a:p>
        </p:txBody>
      </p:sp>
      <p:sp>
        <p:nvSpPr>
          <p:cNvPr id="19" name="Shape 17"/>
          <p:cNvSpPr/>
          <p:nvPr/>
        </p:nvSpPr>
        <p:spPr>
          <a:xfrm>
            <a:off x="6795364" y="1463040"/>
            <a:ext cx="402336" cy="402336"/>
          </a:xfrm>
          <a:prstGeom prst="ellipse">
            <a:avLst/>
          </a:prstGeom>
          <a:solidFill>
            <a:srgbClr val="028090"/>
          </a:solidFill>
          <a:ln/>
        </p:spPr>
      </p:sp>
      <p:sp>
        <p:nvSpPr>
          <p:cNvPr id="20" name="Text 18"/>
          <p:cNvSpPr/>
          <p:nvPr/>
        </p:nvSpPr>
        <p:spPr>
          <a:xfrm>
            <a:off x="6795364" y="1463040"/>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Shape 19"/>
          <p:cNvSpPr/>
          <p:nvPr/>
        </p:nvSpPr>
        <p:spPr>
          <a:xfrm>
            <a:off x="6196432" y="1965960"/>
            <a:ext cx="1600200" cy="1005840"/>
          </a:xfrm>
          <a:prstGeom prst="roundRect">
            <a:avLst>
              <a:gd name="adj" fmla="val 5455"/>
            </a:avLst>
          </a:prstGeom>
          <a:solidFill>
            <a:srgbClr val="028090"/>
          </a:solidFill>
          <a:ln/>
        </p:spPr>
      </p:sp>
      <p:sp>
        <p:nvSpPr>
          <p:cNvPr id="22" name="Text 20"/>
          <p:cNvSpPr/>
          <p:nvPr/>
        </p:nvSpPr>
        <p:spPr>
          <a:xfrm>
            <a:off x="6196432" y="1965960"/>
            <a:ext cx="1600200" cy="10058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Evidence</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retrieval</a:t>
            </a:r>
            <a:endParaRPr lang="en-US" sz="1150" dirty="0"/>
          </a:p>
        </p:txBody>
      </p:sp>
      <p:sp>
        <p:nvSpPr>
          <p:cNvPr id="23" name="Text 21"/>
          <p:cNvSpPr/>
          <p:nvPr/>
        </p:nvSpPr>
        <p:spPr>
          <a:xfrm>
            <a:off x="6059272" y="3063240"/>
            <a:ext cx="1874520" cy="502920"/>
          </a:xfrm>
          <a:prstGeom prst="rect">
            <a:avLst/>
          </a:prstGeom>
          <a:noFill/>
          <a:ln/>
        </p:spPr>
        <p:txBody>
          <a:bodyPr wrap="square" rtlCol="0" anchor="ctr"/>
          <a:lstStyle/>
          <a:p>
            <a:pPr algn="ctr" indent="0" marL="0">
              <a:buNone/>
            </a:pPr>
            <a:r>
              <a:rPr lang="en-US" sz="950" i="1" dirty="0">
                <a:solidFill>
                  <a:srgbClr val="5B6B76"/>
                </a:solidFill>
                <a:latin typeface="Calibri" pitchFamily="34" charset="0"/>
                <a:ea typeface="Calibri" pitchFamily="34" charset="-122"/>
                <a:cs typeface="Calibri" pitchFamily="34" charset="-120"/>
              </a:rPr>
              <a:t>Siva + Vamsi</a:t>
            </a:r>
            <a:endParaRPr lang="en-US" sz="950" dirty="0"/>
          </a:p>
        </p:txBody>
      </p:sp>
      <p:sp>
        <p:nvSpPr>
          <p:cNvPr id="24" name="Shape 22"/>
          <p:cNvSpPr/>
          <p:nvPr/>
        </p:nvSpPr>
        <p:spPr>
          <a:xfrm>
            <a:off x="8596732" y="1463040"/>
            <a:ext cx="402336" cy="402336"/>
          </a:xfrm>
          <a:prstGeom prst="ellipse">
            <a:avLst/>
          </a:prstGeom>
          <a:solidFill>
            <a:srgbClr val="5B3A7A"/>
          </a:solidFill>
          <a:ln/>
        </p:spPr>
      </p:sp>
      <p:sp>
        <p:nvSpPr>
          <p:cNvPr id="25" name="Text 23"/>
          <p:cNvSpPr/>
          <p:nvPr/>
        </p:nvSpPr>
        <p:spPr>
          <a:xfrm>
            <a:off x="8596732" y="1463040"/>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Shape 24"/>
          <p:cNvSpPr/>
          <p:nvPr/>
        </p:nvSpPr>
        <p:spPr>
          <a:xfrm>
            <a:off x="7997800" y="1965960"/>
            <a:ext cx="1600200" cy="1005840"/>
          </a:xfrm>
          <a:prstGeom prst="roundRect">
            <a:avLst>
              <a:gd name="adj" fmla="val 5455"/>
            </a:avLst>
          </a:prstGeom>
          <a:solidFill>
            <a:srgbClr val="5B3A7A"/>
          </a:solidFill>
          <a:ln/>
        </p:spPr>
      </p:sp>
      <p:sp>
        <p:nvSpPr>
          <p:cNvPr id="27" name="Text 25"/>
          <p:cNvSpPr/>
          <p:nvPr/>
        </p:nvSpPr>
        <p:spPr>
          <a:xfrm>
            <a:off x="7997800" y="1965960"/>
            <a:ext cx="1600200" cy="10058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Summary</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 recs</a:t>
            </a:r>
            <a:endParaRPr lang="en-US" sz="1150" dirty="0"/>
          </a:p>
        </p:txBody>
      </p:sp>
      <p:sp>
        <p:nvSpPr>
          <p:cNvPr id="28" name="Text 26"/>
          <p:cNvSpPr/>
          <p:nvPr/>
        </p:nvSpPr>
        <p:spPr>
          <a:xfrm>
            <a:off x="7860640" y="3063240"/>
            <a:ext cx="1874520" cy="502920"/>
          </a:xfrm>
          <a:prstGeom prst="rect">
            <a:avLst/>
          </a:prstGeom>
          <a:noFill/>
          <a:ln/>
        </p:spPr>
        <p:txBody>
          <a:bodyPr wrap="square" rtlCol="0" anchor="ctr"/>
          <a:lstStyle/>
          <a:p>
            <a:pPr algn="ctr" indent="0" marL="0">
              <a:buNone/>
            </a:pPr>
            <a:r>
              <a:rPr lang="en-US" sz="950" i="1" dirty="0">
                <a:solidFill>
                  <a:srgbClr val="5B6B76"/>
                </a:solidFill>
                <a:latin typeface="Calibri" pitchFamily="34" charset="0"/>
                <a:ea typeface="Calibri" pitchFamily="34" charset="-122"/>
                <a:cs typeface="Calibri" pitchFamily="34" charset="-120"/>
              </a:rPr>
              <a:t>Sneha +</a:t>
            </a:r>
            <a:endParaRPr lang="en-US" sz="950" dirty="0"/>
          </a:p>
          <a:p>
            <a:pPr algn="ctr" indent="0" marL="0">
              <a:buNone/>
            </a:pPr>
            <a:r>
              <a:rPr lang="en-US" sz="950" i="1" dirty="0">
                <a:solidFill>
                  <a:srgbClr val="5B6B76"/>
                </a:solidFill>
                <a:latin typeface="Calibri" pitchFamily="34" charset="0"/>
                <a:ea typeface="Calibri" pitchFamily="34" charset="-122"/>
                <a:cs typeface="Calibri" pitchFamily="34" charset="-120"/>
              </a:rPr>
              <a:t>Lakshmi</a:t>
            </a:r>
            <a:endParaRPr lang="en-US" sz="950" dirty="0"/>
          </a:p>
        </p:txBody>
      </p:sp>
      <p:sp>
        <p:nvSpPr>
          <p:cNvPr id="29" name="Shape 27"/>
          <p:cNvSpPr/>
          <p:nvPr/>
        </p:nvSpPr>
        <p:spPr>
          <a:xfrm>
            <a:off x="10398100" y="1463040"/>
            <a:ext cx="402336" cy="402336"/>
          </a:xfrm>
          <a:prstGeom prst="ellipse">
            <a:avLst/>
          </a:prstGeom>
          <a:solidFill>
            <a:srgbClr val="4C5B78"/>
          </a:solidFill>
          <a:ln/>
        </p:spPr>
      </p:sp>
      <p:sp>
        <p:nvSpPr>
          <p:cNvPr id="30" name="Text 28"/>
          <p:cNvSpPr/>
          <p:nvPr/>
        </p:nvSpPr>
        <p:spPr>
          <a:xfrm>
            <a:off x="10398100" y="1463040"/>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1" name="Shape 29"/>
          <p:cNvSpPr/>
          <p:nvPr/>
        </p:nvSpPr>
        <p:spPr>
          <a:xfrm>
            <a:off x="9799168" y="1965960"/>
            <a:ext cx="1600200" cy="1005840"/>
          </a:xfrm>
          <a:prstGeom prst="roundRect">
            <a:avLst>
              <a:gd name="adj" fmla="val 5455"/>
            </a:avLst>
          </a:prstGeom>
          <a:solidFill>
            <a:srgbClr val="4C5B78"/>
          </a:solidFill>
          <a:ln/>
        </p:spPr>
      </p:sp>
      <p:sp>
        <p:nvSpPr>
          <p:cNvPr id="32" name="Text 30"/>
          <p:cNvSpPr/>
          <p:nvPr/>
        </p:nvSpPr>
        <p:spPr>
          <a:xfrm>
            <a:off x="9799168" y="1965960"/>
            <a:ext cx="1600200" cy="10058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Safety +</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HITL</a:t>
            </a:r>
            <a:endParaRPr lang="en-US" sz="1150" dirty="0"/>
          </a:p>
        </p:txBody>
      </p:sp>
      <p:sp>
        <p:nvSpPr>
          <p:cNvPr id="33" name="Text 31"/>
          <p:cNvSpPr/>
          <p:nvPr/>
        </p:nvSpPr>
        <p:spPr>
          <a:xfrm>
            <a:off x="9662008" y="3063240"/>
            <a:ext cx="1874520" cy="502920"/>
          </a:xfrm>
          <a:prstGeom prst="rect">
            <a:avLst/>
          </a:prstGeom>
          <a:noFill/>
          <a:ln/>
        </p:spPr>
        <p:txBody>
          <a:bodyPr wrap="square" rtlCol="0" anchor="ctr"/>
          <a:lstStyle/>
          <a:p>
            <a:pPr algn="ctr" indent="0" marL="0">
              <a:buNone/>
            </a:pPr>
            <a:r>
              <a:rPr lang="en-US" sz="950" i="1" dirty="0">
                <a:solidFill>
                  <a:srgbClr val="5B6B76"/>
                </a:solidFill>
                <a:latin typeface="Calibri" pitchFamily="34" charset="0"/>
                <a:ea typeface="Calibri" pitchFamily="34" charset="-122"/>
                <a:cs typeface="Calibri" pitchFamily="34" charset="-120"/>
              </a:rPr>
              <a:t>Turjoy +</a:t>
            </a:r>
            <a:endParaRPr lang="en-US" sz="950" dirty="0"/>
          </a:p>
          <a:p>
            <a:pPr algn="ctr" indent="0" marL="0">
              <a:buNone/>
            </a:pPr>
            <a:r>
              <a:rPr lang="en-US" sz="950" i="1" dirty="0">
                <a:solidFill>
                  <a:srgbClr val="5B6B76"/>
                </a:solidFill>
                <a:latin typeface="Calibri" pitchFamily="34" charset="0"/>
                <a:ea typeface="Calibri" pitchFamily="34" charset="-122"/>
                <a:cs typeface="Calibri" pitchFamily="34" charset="-120"/>
              </a:rPr>
              <a:t>Adarsh</a:t>
            </a:r>
            <a:endParaRPr lang="en-US" sz="950" dirty="0"/>
          </a:p>
        </p:txBody>
      </p:sp>
      <p:sp>
        <p:nvSpPr>
          <p:cNvPr id="34" name="Shape 32"/>
          <p:cNvSpPr/>
          <p:nvPr/>
        </p:nvSpPr>
        <p:spPr>
          <a:xfrm>
            <a:off x="2392528" y="2468880"/>
            <a:ext cx="201168" cy="0"/>
          </a:xfrm>
          <a:prstGeom prst="line">
            <a:avLst/>
          </a:prstGeom>
          <a:noFill/>
          <a:ln w="19050">
            <a:solidFill>
              <a:srgbClr val="5B6B76"/>
            </a:solidFill>
            <a:prstDash val="solid"/>
            <a:tailEnd type="triangle"/>
          </a:ln>
        </p:spPr>
      </p:sp>
      <p:sp>
        <p:nvSpPr>
          <p:cNvPr id="35" name="Shape 33"/>
          <p:cNvSpPr/>
          <p:nvPr/>
        </p:nvSpPr>
        <p:spPr>
          <a:xfrm>
            <a:off x="4193896" y="2468880"/>
            <a:ext cx="201168" cy="0"/>
          </a:xfrm>
          <a:prstGeom prst="line">
            <a:avLst/>
          </a:prstGeom>
          <a:noFill/>
          <a:ln w="19050">
            <a:solidFill>
              <a:srgbClr val="5B6B76"/>
            </a:solidFill>
            <a:prstDash val="solid"/>
            <a:tailEnd type="triangle"/>
          </a:ln>
        </p:spPr>
      </p:sp>
      <p:sp>
        <p:nvSpPr>
          <p:cNvPr id="36" name="Shape 34"/>
          <p:cNvSpPr/>
          <p:nvPr/>
        </p:nvSpPr>
        <p:spPr>
          <a:xfrm>
            <a:off x="5995264" y="2468880"/>
            <a:ext cx="201168" cy="0"/>
          </a:xfrm>
          <a:prstGeom prst="line">
            <a:avLst/>
          </a:prstGeom>
          <a:noFill/>
          <a:ln w="19050">
            <a:solidFill>
              <a:srgbClr val="5B6B76"/>
            </a:solidFill>
            <a:prstDash val="solid"/>
            <a:tailEnd type="triangle"/>
          </a:ln>
        </p:spPr>
      </p:sp>
      <p:sp>
        <p:nvSpPr>
          <p:cNvPr id="37" name="Shape 35"/>
          <p:cNvSpPr/>
          <p:nvPr/>
        </p:nvSpPr>
        <p:spPr>
          <a:xfrm>
            <a:off x="7796632" y="2468880"/>
            <a:ext cx="201168" cy="0"/>
          </a:xfrm>
          <a:prstGeom prst="line">
            <a:avLst/>
          </a:prstGeom>
          <a:noFill/>
          <a:ln w="19050">
            <a:solidFill>
              <a:srgbClr val="5B6B76"/>
            </a:solidFill>
            <a:prstDash val="solid"/>
            <a:tailEnd type="triangle"/>
          </a:ln>
        </p:spPr>
      </p:sp>
      <p:sp>
        <p:nvSpPr>
          <p:cNvPr id="38" name="Shape 36"/>
          <p:cNvSpPr/>
          <p:nvPr/>
        </p:nvSpPr>
        <p:spPr>
          <a:xfrm>
            <a:off x="9598000" y="2468880"/>
            <a:ext cx="201168" cy="0"/>
          </a:xfrm>
          <a:prstGeom prst="line">
            <a:avLst/>
          </a:prstGeom>
          <a:noFill/>
          <a:ln w="19050">
            <a:solidFill>
              <a:srgbClr val="5B6B76"/>
            </a:solidFill>
            <a:prstDash val="solid"/>
            <a:tailEnd type="triangle"/>
          </a:ln>
        </p:spPr>
      </p:sp>
      <p:sp>
        <p:nvSpPr>
          <p:cNvPr id="39" name="Shape 37"/>
          <p:cNvSpPr/>
          <p:nvPr/>
        </p:nvSpPr>
        <p:spPr>
          <a:xfrm>
            <a:off x="1097280" y="4160520"/>
            <a:ext cx="9994392" cy="1417320"/>
          </a:xfrm>
          <a:prstGeom prst="roundRect">
            <a:avLst>
              <a:gd name="adj" fmla="val 3871"/>
            </a:avLst>
          </a:prstGeom>
          <a:solidFill>
            <a:srgbClr val="FFFFFF"/>
          </a:solidFill>
          <a:ln w="12700">
            <a:solidFill>
              <a:srgbClr val="D8E0E4"/>
            </a:solidFill>
            <a:prstDash val="solid"/>
          </a:ln>
          <a:effectLst>
            <a:outerShdw sx="100000" sy="100000" kx="0" ky="0" algn="bl" rotWithShape="0" blurRad="76200" dist="25400" dir="5400000">
              <a:srgbClr val="000000">
                <a:alpha val="10000"/>
              </a:srgbClr>
            </a:outerShdw>
          </a:effectLst>
        </p:spPr>
      </p:sp>
      <p:sp>
        <p:nvSpPr>
          <p:cNvPr id="40" name="Text 38"/>
          <p:cNvSpPr/>
          <p:nvPr/>
        </p:nvSpPr>
        <p:spPr>
          <a:xfrm>
            <a:off x="1417320" y="4343400"/>
            <a:ext cx="9326880" cy="365760"/>
          </a:xfrm>
          <a:prstGeom prst="rect">
            <a:avLst/>
          </a:prstGeom>
          <a:noFill/>
          <a:ln/>
        </p:spPr>
        <p:txBody>
          <a:bodyPr wrap="square" rtlCol="0" anchor="ctr"/>
          <a:lstStyle/>
          <a:p>
            <a:pPr indent="0" marL="0">
              <a:buNone/>
            </a:pPr>
            <a:r>
              <a:rPr lang="en-US" sz="1400" b="1" dirty="0">
                <a:solidFill>
                  <a:srgbClr val="0B3142"/>
                </a:solidFill>
                <a:latin typeface="Cambria" pitchFamily="34" charset="0"/>
                <a:ea typeface="Cambria" pitchFamily="34" charset="-122"/>
                <a:cs typeface="Cambria" pitchFamily="34" charset="-120"/>
              </a:rPr>
              <a:t>Key differentiator</a:t>
            </a:r>
            <a:endParaRPr lang="en-US" sz="1400" dirty="0"/>
          </a:p>
        </p:txBody>
      </p:sp>
      <p:sp>
        <p:nvSpPr>
          <p:cNvPr id="41" name="Text 39"/>
          <p:cNvSpPr/>
          <p:nvPr/>
        </p:nvSpPr>
        <p:spPr>
          <a:xfrm>
            <a:off x="1417320" y="4709160"/>
            <a:ext cx="9326880" cy="777240"/>
          </a:xfrm>
          <a:prstGeom prst="rect">
            <a:avLst/>
          </a:prstGeom>
          <a:noFill/>
          <a:ln/>
        </p:spPr>
        <p:txBody>
          <a:bodyPr wrap="square" rtlCol="0" anchor="t"/>
          <a:lstStyle/>
          <a:p>
            <a:pPr indent="0" marL="0">
              <a:buNone/>
            </a:pPr>
            <a:r>
              <a:rPr lang="en-US" sz="1300" dirty="0">
                <a:solidFill>
                  <a:srgbClr val="1A1A1A"/>
                </a:solidFill>
                <a:latin typeface="Calibri" pitchFamily="34" charset="0"/>
                <a:ea typeface="Calibri" pitchFamily="34" charset="-122"/>
                <a:cs typeface="Calibri" pitchFamily="34" charset="-120"/>
              </a:rPr>
              <a:t>The workflow does not release results until the LangGraph run actually pauses for human review and receives an Approve or Edit decision.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2026-09-19T04:43:31Z</dcterms:created>
  <dcterms:modified xsi:type="dcterms:W3CDTF">2026-09-19T04:43:31Z</dcterms:modified>
</cp:coreProperties>
</file>